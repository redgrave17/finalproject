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"/>
            <a:ext cx="893308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1328" y="91440"/>
            <a:ext cx="2194560" cy="32918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68FF"/>
                </a:solidFill>
                <a:latin typeface="Arial"/>
              </a:rPr>
              <a:t>×  Zalo 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73152"/>
            <a:ext cx="1828800" cy="347472"/>
          </a:xfrm>
          <a:prstGeom prst="round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73152"/>
            <a:ext cx="1828800" cy="34747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ROADMAP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1A40"/>
                </a:solidFill>
                <a:latin typeface="Arial"/>
              </a:rPr>
              <a:t>Mô Hình &amp; Quy Trình Kinh Doanh Dịch Vụ zVAS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50976"/>
            <a:ext cx="8229600" cy="219456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18096"/>
                </a:solidFill>
                <a:latin typeface="Calibri"/>
              </a:rPr>
              <a:t>Tổng hợp định hướng Business Roadmap &amp; Đào tạo nội bộ GAPIT — hiểu dịch vụ → chuẩn hóa hợp đồng → quản trị thanh toán/rủi 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743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82296" cy="841248"/>
          </a:xfrm>
          <a:prstGeom prst="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43584"/>
            <a:ext cx="2487168" cy="18288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68FF"/>
                </a:solidFill>
                <a:latin typeface="Calibri"/>
              </a:rPr>
              <a:t>?  </a:t>
            </a:r>
            <a:r>
              <a:rPr sz="800" b="1">
                <a:solidFill>
                  <a:srgbClr val="718096"/>
                </a:solidFill>
                <a:latin typeface="Calibri"/>
              </a:rPr>
              <a:t>Câu hỏi định hướng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2487168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1A40"/>
                </a:solidFill>
                <a:latin typeface="Calibri"/>
              </a:rPr>
              <a:t>Đã có mô hình &amp; quy trình kinh doanh dịch vụ này chưa?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73936"/>
            <a:ext cx="2487168" cy="23774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68FF"/>
                </a:solidFill>
                <a:latin typeface="Calibri"/>
              </a:rPr>
              <a:t>✓ CÓ — chuỗi phân phối &amp; quy trình vận hành đã được chuẩn hóa (sơ đồ bên dưới).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3104" y="1188720"/>
            <a:ext cx="2743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3104" y="1188720"/>
            <a:ext cx="82296" cy="841248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5984" y="1243584"/>
            <a:ext cx="2487168" cy="18288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3F88"/>
                </a:solidFill>
                <a:latin typeface="Calibri"/>
              </a:rPr>
              <a:t>?  </a:t>
            </a:r>
            <a:r>
              <a:rPr sz="800" b="1">
                <a:solidFill>
                  <a:srgbClr val="718096"/>
                </a:solidFill>
                <a:latin typeface="Calibri"/>
              </a:rPr>
              <a:t>Câu hỏi định hướng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984" y="1417320"/>
            <a:ext cx="2487168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1A40"/>
                </a:solidFill>
                <a:latin typeface="Calibri"/>
              </a:rPr>
              <a:t>Cần mô hình để hiểu dịch vụ → mới xác định đúng hợp đồng?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984" y="1773936"/>
            <a:ext cx="2487168" cy="23774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03F88"/>
                </a:solidFill>
                <a:latin typeface="Calibri"/>
              </a:rPr>
              <a:t>✓ ĐÚNG — mỗi quan hệ trong chuỗi gắn với MỘT loại hợp đồng riêng.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009" y="1188720"/>
            <a:ext cx="2743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009" y="1188720"/>
            <a:ext cx="82296" cy="841248"/>
          </a:xfrm>
          <a:prstGeom prst="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1889" y="1243584"/>
            <a:ext cx="2487168" cy="18288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862C"/>
                </a:solidFill>
                <a:latin typeface="Calibri"/>
              </a:rPr>
              <a:t>?  </a:t>
            </a:r>
            <a:r>
              <a:rPr sz="800" b="1">
                <a:solidFill>
                  <a:srgbClr val="718096"/>
                </a:solidFill>
                <a:latin typeface="Calibri"/>
              </a:rPr>
              <a:t>Câu hỏi định hướng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1889" y="1417320"/>
            <a:ext cx="2487168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1A40"/>
                </a:solidFill>
                <a:latin typeface="Calibri"/>
              </a:rPr>
              <a:t>Trả trước / trả sau chỉ là vấn đề thanh toán &amp; rủi ro?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1889" y="1773936"/>
            <a:ext cx="2487168" cy="237744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5862C"/>
                </a:solidFill>
                <a:latin typeface="Calibri"/>
              </a:rPr>
              <a:t>✓ ĐÚNG — bản chất dịch vụ không đổi; chỉ khác cơ chế &amp; rủi ro thanh toán.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103120"/>
            <a:ext cx="8229600" cy="18288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18096"/>
                </a:solidFill>
                <a:latin typeface="Calibri"/>
              </a:rPr>
              <a:t>1 · MÔ HÌNH KINH DOANH — CHUỖI PHÂN PHỐI &amp; HỢP ĐỒNG TƯƠNG ỨNG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22576"/>
            <a:ext cx="1874519" cy="548640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77440"/>
            <a:ext cx="1874519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VNG / Zalo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33472"/>
            <a:ext cx="1874519" cy="20116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Nhà phát hành zVAS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2322576"/>
            <a:ext cx="329184" cy="54864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3F88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15184" y="2322576"/>
            <a:ext cx="1874519" cy="54864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15184" y="2377440"/>
            <a:ext cx="1874519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GAPIT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5184" y="2633472"/>
            <a:ext cx="1874519" cy="20116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Đại lý ủy quyền (Reseller)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2322576"/>
            <a:ext cx="329184" cy="54864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68FF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73168" y="2322576"/>
            <a:ext cx="1874519" cy="548640"/>
          </a:xfrm>
          <a:prstGeom prst="roundRect">
            <a:avLst/>
          </a:prstGeom>
          <a:solidFill>
            <a:srgbClr val="00C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2377440"/>
            <a:ext cx="1874519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Đại lý cấp dưới / KHDN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2633472"/>
            <a:ext cx="1874519" cy="20116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Phân phối / Sử dụng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2322576"/>
            <a:ext cx="329184" cy="54864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C6AE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2322576"/>
            <a:ext cx="1874519" cy="5486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2377440"/>
            <a:ext cx="1874519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Người Dùng Cuối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2633472"/>
            <a:ext cx="1874519" cy="20116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Kích hoạt tại zbox.vn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2889504"/>
            <a:ext cx="8229600" cy="20116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A5568"/>
                </a:solidFill>
                <a:latin typeface="Calibri"/>
              </a:rPr>
              <a:t>Hợp đồng tương ứng:  </a:t>
            </a:r>
            <a:r>
              <a:rPr sz="850" b="0">
                <a:solidFill>
                  <a:srgbClr val="001A40"/>
                </a:solidFill>
                <a:latin typeface="Calibri"/>
              </a:rPr>
              <a:t>① HĐ Dịch vụ zVAS (VNG=A · GAPIT=B)   →   ② HĐ Đại lý zVAS / HĐ Cung cấp DV zVAS + DPA (Khách hàng/Đại lý=A · GAPIT=B)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218688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218688"/>
            <a:ext cx="82296" cy="1481328"/>
          </a:xfrm>
          <a:prstGeom prst="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273552"/>
            <a:ext cx="3749039" cy="20116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8FF"/>
                </a:solidFill>
                <a:latin typeface="Calibri"/>
              </a:rPr>
              <a:t>2 · QUY TRÌNH VẬN HÀNH (theo từng đơn)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3493008"/>
            <a:ext cx="201168" cy="18288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3488436"/>
            <a:ext cx="201168" cy="19202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3483864"/>
            <a:ext cx="3520440" cy="20116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4A5568"/>
                </a:solidFill>
                <a:latin typeface="Calibri"/>
              </a:rPr>
              <a:t>Đặt hàng trên CMS / email được chỉ định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3735324"/>
            <a:ext cx="201168" cy="18288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3730752"/>
            <a:ext cx="201168" cy="19202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726180"/>
            <a:ext cx="3520440" cy="20116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4A5568"/>
                </a:solidFill>
                <a:latin typeface="Calibri"/>
              </a:rPr>
              <a:t>Thanh toán — TRẢ TRƯỚC 100% theo từng đơn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3977639"/>
            <a:ext cx="201168" cy="18288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3973068"/>
            <a:ext cx="201168" cy="19202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3968496"/>
            <a:ext cx="3520440" cy="20116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4A5568"/>
                </a:solidFill>
                <a:latin typeface="Calibri"/>
              </a:rPr>
              <a:t>Bàn giao Mã code (≤ 03 ngày làm việc) → kết thúc đơn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4219956"/>
            <a:ext cx="201168" cy="18288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215384"/>
            <a:ext cx="201168" cy="19202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210812"/>
            <a:ext cx="3520440" cy="20116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4A5568"/>
                </a:solidFill>
                <a:latin typeface="Calibri"/>
              </a:rPr>
              <a:t>Người Dùng Cuối kích hoạt tại zbox.vn/activate-code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4462272"/>
            <a:ext cx="201168" cy="18288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457700"/>
            <a:ext cx="201168" cy="19202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4453128"/>
            <a:ext cx="3520440" cy="20116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4A5568"/>
                </a:solidFill>
                <a:latin typeface="Calibri"/>
              </a:rPr>
              <a:t>CSKH: GAPIT xử lý cấp 1 → leo thang VNG cấp 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3218688"/>
            <a:ext cx="41148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3218688"/>
            <a:ext cx="82296" cy="1481328"/>
          </a:xfrm>
          <a:prstGeom prst="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3273552"/>
            <a:ext cx="3840480" cy="20116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862C"/>
                </a:solidFill>
                <a:latin typeface="Calibri"/>
              </a:rPr>
              <a:t>3 · THANH TOÁN &amp; RỦI RO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73168" y="3511296"/>
            <a:ext cx="1874519" cy="713232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82896" y="3547872"/>
            <a:ext cx="1691640" cy="18288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2C55E"/>
                </a:solidFill>
                <a:latin typeface="Calibri"/>
              </a:rPr>
              <a:t>TRẢ TRƯỚC (mặc định)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82896" y="3721608"/>
            <a:ext cx="1691640" cy="47548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4A5568"/>
                </a:solidFill>
                <a:latin typeface="Calibri"/>
              </a:rPr>
              <a:t>Bàn giao code SAU khi thanh toán đủ → kết thúc đơn; không công nợ → rủi ro thấp.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29984" y="3511296"/>
            <a:ext cx="1874519" cy="713232"/>
          </a:xfrm>
          <a:prstGeom prst="roundRect">
            <a:avLst/>
          </a:prstGeom>
          <a:solidFill>
            <a:srgbClr val="FDEEEC"/>
          </a:solidFill>
          <a:ln w="9525">
            <a:solidFill>
              <a:srgbClr val="E257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39712" y="3547872"/>
            <a:ext cx="1691640" cy="182880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2574C"/>
                </a:solidFill>
                <a:latin typeface="Calibri"/>
              </a:rPr>
              <a:t>TRẢ SAU (công nợ)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9712" y="3721608"/>
            <a:ext cx="1691640" cy="475488"/>
          </a:xfrm>
          <a:prstGeom prst="rect">
            <a:avLst/>
          </a:prstGeom>
          <a:noFill/>
        </p:spPr>
        <p:txBody>
          <a:bodyPr wrap="square" anchor="t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4A5568"/>
                </a:solidFill>
                <a:latin typeface="Calibri"/>
              </a:rPr>
              <a:t>Phát sinh công nợ → rủi ro thu hồi; cần hạn mức/bảo lãnh &amp; lãi chậm trả (nếu thỏa thuận).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73168" y="4297680"/>
            <a:ext cx="3831336" cy="365760"/>
          </a:xfrm>
          <a:prstGeom prst="roundRect">
            <a:avLst/>
          </a:prstGeom>
          <a:solidFill>
            <a:srgbClr val="FFF6E9"/>
          </a:solidFill>
          <a:ln w="9525">
            <a:solidFill>
              <a:srgbClr val="F5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82896" y="4306824"/>
            <a:ext cx="3611880" cy="34747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5862C"/>
                </a:solidFill>
                <a:latin typeface="Calibri"/>
              </a:rPr>
              <a:t>★ </a:t>
            </a:r>
            <a:r>
              <a:rPr sz="780" b="0">
                <a:solidFill>
                  <a:srgbClr val="001A40"/>
                </a:solidFill>
                <a:latin typeface="Calibri"/>
              </a:rPr>
              <a:t>Trả trước/sau KHÔNG đổi bản chất dịch vụ — chỉ khác cơ chế &amp; rủi ro thanh toán. Mã code đã mua: không hoàn/đổi (chính sách VNG).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846320"/>
            <a:ext cx="8229600" cy="201168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846320"/>
            <a:ext cx="7955279" cy="20116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GAPIT JSC  |  gapit.com.vn</a:t>
            </a:r>
            <a:r>
              <a:rPr sz="800" b="0">
                <a:solidFill>
                  <a:srgbClr val="FFFFFF"/>
                </a:solidFill>
                <a:latin typeface="Calibri"/>
              </a:rPr>
              <a:t>     —  Tài liệu định hướng Business Roadmap &amp; Đào tạo nội bộ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