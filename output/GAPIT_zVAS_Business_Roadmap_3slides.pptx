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7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"/>
            <a:ext cx="992564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27632" y="109728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68FF"/>
                </a:solidFill>
                <a:latin typeface="Arial"/>
              </a:rPr>
              <a:t>×  Zalo 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91440"/>
            <a:ext cx="1920240" cy="365760"/>
          </a:xfrm>
          <a:prstGeom prst="round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91440"/>
            <a:ext cx="192024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ROADMAP · 1/3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0080"/>
            <a:ext cx="11521440" cy="42062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01A40"/>
                </a:solidFill>
                <a:latin typeface="Arial"/>
              </a:rPr>
              <a:t>Business Roadmap zVAS — Now · Next ·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1556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18096"/>
                </a:solidFill>
                <a:latin typeface="Calibri"/>
              </a:rPr>
              <a:t>Roadmap theo kết quả/outcome &amp; horizon — không cố định ngày, ưu tiên theo chủ đề (theme) và giá trị.</a:t>
            </a:r>
          </a:p>
          <a:p>
            <a:pPr algn="l">
              <a:lnSpc>
                <a:spcPct val="103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718096"/>
                </a:solidFill>
                <a:latin typeface="Calibri"/>
              </a:rPr>
              <a:t>Khung tham khảo: Adrenalin — “Roadmapping Your Digital Product: A Definitive Guide”.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6583680"/>
            <a:ext cx="11384280" cy="201168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11064240" cy="20116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GAPIT JSC  |  gapit.com.vn</a:t>
            </a:r>
            <a:r>
              <a:rPr sz="800" b="0">
                <a:solidFill>
                  <a:srgbClr val="FFFFFF"/>
                </a:solidFill>
                <a:latin typeface="Calibri"/>
              </a:rPr>
              <a:t>     —  Business Roadmap sản phẩm zVAS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554480"/>
            <a:ext cx="3703320" cy="841248"/>
          </a:xfrm>
          <a:prstGeom prst="roundRect">
            <a:avLst/>
          </a:prstGeom>
          <a:solidFill>
            <a:srgbClr val="006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09344"/>
            <a:ext cx="3392424" cy="310896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NOW</a:t>
            </a:r>
            <a:r>
              <a:rPr sz="1600" b="0">
                <a:solidFill>
                  <a:srgbClr val="FFFFFF"/>
                </a:solidFill>
                <a:latin typeface="Calibri"/>
              </a:rPr>
              <a:t>    Q2–Q3 /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1993392"/>
            <a:ext cx="3392424" cy="310896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Go-live &amp; Validate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68880"/>
            <a:ext cx="37033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468880"/>
            <a:ext cx="37033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505456"/>
            <a:ext cx="3447287" cy="51206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068FF"/>
                </a:solidFill>
                <a:latin typeface="Calibri"/>
              </a:rPr>
              <a:t>Outcome: vận hành B2B ổn định · dòng tiền trả trước · khởi động mạng đại lý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27248"/>
            <a:ext cx="3520439" cy="288036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068FF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Hoàn thiện zVAS CMS: catalog, báo giá (prorate + VAT), hóa đơn, kích hoạt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068FF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Code pool &amp; cảnh báo hạn kích hoạt 6/3/2/1 tháng (trong 12 tháng từ nhập kho)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068FF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Go-live KHDN + ký HĐ Đại lý cấp II; DPA theo mẫu PDPA(VNI)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068FF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Chuẩn hóa cơ chế trả trước + bảng giá &amp; chiết khấu theo bậc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068FF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Đào tạo CSKH cấp 1; quy trình đổi Mã code lỗi (≤ 24h)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42816" y="1554480"/>
            <a:ext cx="3703320" cy="841248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7" y="1609344"/>
            <a:ext cx="3392424" cy="310896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NEXT</a:t>
            </a:r>
            <a:r>
              <a:rPr sz="1600" b="0">
                <a:solidFill>
                  <a:srgbClr val="FFFFFF"/>
                </a:solidFill>
                <a:latin typeface="Calibri"/>
              </a:rPr>
              <a:t>    Q4/2026 – Q1/2027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7" y="1993392"/>
            <a:ext cx="3392424" cy="310896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Scale &amp; Enable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42816" y="2468880"/>
            <a:ext cx="37033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42816" y="2468880"/>
            <a:ext cx="37033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0831" y="2505456"/>
            <a:ext cx="3447287" cy="51206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E56"/>
                </a:solidFill>
                <a:latin typeface="Calibri"/>
              </a:rPr>
              <a:t>Outcome: nhân rộng kênh đại lý · tăng MRR · giảm thao tác thủ công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3127248"/>
            <a:ext cx="3520439" cy="288036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F6E56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Mở rộng Đại lý cấp II: RACI, onboarding, KPI doanh số tối thiểu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F6E56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Portal Đại lý / Affiliate; báo cáo MRR &amp; tồn kho Mã code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F6E56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Tự động đối soát CSV zbox.vn; auto-select code sắp hết hạn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F6E56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Thêm bundle (zBusiness + zCloud + zStyle)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0F6E56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Khuyến mại có kiểm soát giá sàn công khai (VNG)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4152" y="1554480"/>
            <a:ext cx="3703320" cy="841248"/>
          </a:xfrm>
          <a:prstGeom prst="round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8744" y="1609344"/>
            <a:ext cx="3392424" cy="310896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LATER</a:t>
            </a:r>
            <a:r>
              <a:rPr sz="1600" b="0">
                <a:solidFill>
                  <a:srgbClr val="FFFFFF"/>
                </a:solidFill>
                <a:latin typeface="Calibri"/>
              </a:rPr>
              <a:t>    2027 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1993392"/>
            <a:ext cx="3392424" cy="310896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Optimize &amp; Expand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74152" y="2468880"/>
            <a:ext cx="37033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4152" y="2468880"/>
            <a:ext cx="370332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2505456"/>
            <a:ext cx="3447287" cy="51206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34AB7"/>
                </a:solidFill>
                <a:latin typeface="Calibri"/>
              </a:rPr>
              <a:t>Outcome: tối ưu biên lợi nhuận · mở rộng hệ sinh thái · tích hợp sâu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127248"/>
            <a:ext cx="3520439" cy="2880360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534AB7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API hóa khi VNG mở API → loại bỏ thao tác CSV thủ công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534AB7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Cross-sell eSIM / SIM doanh nghiệp; combo đa dịch vụ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534AB7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Analytics hành vi &amp; dự báo nhu cầu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534AB7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Tối ưu pricing &amp; biên theo bậc số lượng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>
                <a:solidFill>
                  <a:srgbClr val="534AB7"/>
                </a:solidFill>
                <a:latin typeface="Calibri"/>
              </a:rPr>
              <a:t>▪ </a:t>
            </a:r>
            <a:r>
              <a:rPr sz="1100">
                <a:solidFill>
                  <a:srgbClr val="4A5568"/>
                </a:solidFill>
                <a:latin typeface="Calibri"/>
              </a:rPr>
              <a:t>Loyalty cho Đại lý &amp; KHDN; mở rộng vùng/ngành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7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"/>
            <a:ext cx="992564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27632" y="109728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68FF"/>
                </a:solidFill>
                <a:latin typeface="Arial"/>
              </a:rPr>
              <a:t>×  Zalo 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91440"/>
            <a:ext cx="1920240" cy="365760"/>
          </a:xfrm>
          <a:prstGeom prst="round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91440"/>
            <a:ext cx="192024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BIÊN LỢI NHUẬN · 2/3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0080"/>
            <a:ext cx="11521440" cy="42062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01A40"/>
                </a:solidFill>
                <a:latin typeface="Arial"/>
              </a:rPr>
              <a:t>Biên Lợi Nhuận — GAPIT &amp; Đại Lý Cấp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1556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18096"/>
                </a:solidFill>
                <a:latin typeface="Calibri"/>
              </a:rPr>
              <a:t>Tổng biên kênh ≈ 20% (chênh giá bán lẻ Zalo vs giá VNG cấp cho GAPIT) · GAPIT giữ = 20% − chiết khấu cấp cho Đại lý cấp II.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6583680"/>
            <a:ext cx="11384280" cy="201168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11064240" cy="20116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GAPIT JSC  |  gapit.com.vn</a:t>
            </a:r>
            <a:r>
              <a:rPr sz="800" b="0">
                <a:solidFill>
                  <a:srgbClr val="FFFFFF"/>
                </a:solidFill>
                <a:latin typeface="Calibri"/>
              </a:rPr>
              <a:t>     —  Business Roadmap sản phẩm zVAS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27632"/>
            <a:ext cx="1874519" cy="457200"/>
          </a:xfrm>
          <a:prstGeom prst="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2763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Bậc SL (code/tháng)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1627632"/>
            <a:ext cx="1691640" cy="457200"/>
          </a:xfrm>
          <a:prstGeom prst="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1627632"/>
            <a:ext cx="16916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CK Đại lý cấp II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1627632"/>
            <a:ext cx="1554480" cy="457200"/>
          </a:xfrm>
          <a:prstGeom prst="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39" y="16276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Biên Đại lý 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32120" y="1627632"/>
            <a:ext cx="1783080" cy="457200"/>
          </a:xfrm>
          <a:prstGeom prst="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1627632"/>
            <a:ext cx="17830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Biên GAPIT giữ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1627632"/>
            <a:ext cx="1234440" cy="457200"/>
          </a:xfrm>
          <a:prstGeom prst="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627632"/>
            <a:ext cx="12344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Tổng biên kênh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084832"/>
            <a:ext cx="1874519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08483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1A40"/>
                </a:solidFill>
                <a:latin typeface="Calibri"/>
              </a:rPr>
              <a:t>50 – 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084832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0" y="2084832"/>
            <a:ext cx="16916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39" y="2084832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20848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2084832"/>
            <a:ext cx="1783080" cy="457200"/>
          </a:xfrm>
          <a:prstGeom prst="rect">
            <a:avLst/>
          </a:prstGeom>
          <a:solidFill>
            <a:srgbClr val="FFF1E6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084832"/>
            <a:ext cx="17830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862C"/>
                </a:solidFill>
                <a:latin typeface="Calibri"/>
              </a:rPr>
              <a:t>15%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2084832"/>
            <a:ext cx="1234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2084832"/>
            <a:ext cx="12344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542032"/>
            <a:ext cx="1874519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54203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1A40"/>
                </a:solidFill>
                <a:latin typeface="Calibri"/>
              </a:rPr>
              <a:t>100 – 299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2542032"/>
            <a:ext cx="169164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0" y="2542032"/>
            <a:ext cx="16916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77639" y="2542032"/>
            <a:ext cx="155448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77639" y="25420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32120" y="2542032"/>
            <a:ext cx="1783080" cy="457200"/>
          </a:xfrm>
          <a:prstGeom prst="rect">
            <a:avLst/>
          </a:prstGeom>
          <a:solidFill>
            <a:srgbClr val="FFF1E6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32120" y="2542032"/>
            <a:ext cx="17830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862C"/>
                </a:solidFill>
                <a:latin typeface="Calibri"/>
              </a:rPr>
              <a:t>12%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2542032"/>
            <a:ext cx="1234440" cy="457200"/>
          </a:xfrm>
          <a:prstGeom prst="rect">
            <a:avLst/>
          </a:prstGeom>
          <a:solidFill>
            <a:srgbClr val="F4F7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2542032"/>
            <a:ext cx="12344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20%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99232"/>
            <a:ext cx="1874519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99923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1A40"/>
                </a:solidFill>
                <a:latin typeface="Calibri"/>
              </a:rPr>
              <a:t>≥ 300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2999232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6000" y="2999232"/>
            <a:ext cx="16916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10%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77639" y="2999232"/>
            <a:ext cx="1554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77639" y="29992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32120" y="2999232"/>
            <a:ext cx="1783080" cy="457200"/>
          </a:xfrm>
          <a:prstGeom prst="rect">
            <a:avLst/>
          </a:prstGeom>
          <a:solidFill>
            <a:srgbClr val="FFF1E6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32120" y="2999232"/>
            <a:ext cx="178308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862C"/>
                </a:solidFill>
                <a:latin typeface="Calibri"/>
              </a:rPr>
              <a:t>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0" y="2999232"/>
            <a:ext cx="1234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0" y="2999232"/>
            <a:ext cx="1234440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568"/>
                </a:solidFill>
                <a:latin typeface="Calibri"/>
              </a:rPr>
              <a:t>20%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346704"/>
            <a:ext cx="8138160" cy="23774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18096"/>
                </a:solidFill>
                <a:latin typeface="Calibri"/>
              </a:rPr>
              <a:t>Cấu trúc biên trên 1 đơn vị (× 100% giá bán lẻ Zalo)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657600"/>
            <a:ext cx="118872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01A40"/>
                </a:solidFill>
                <a:latin typeface="Calibri"/>
              </a:rPr>
              <a:t>Bậc 50–99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91639" y="3657600"/>
            <a:ext cx="5486400" cy="38404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91639" y="3657600"/>
            <a:ext cx="54864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Giá VNG 80%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78040" y="3657600"/>
            <a:ext cx="1028700" cy="384048"/>
          </a:xfrm>
          <a:prstGeom prst="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78040" y="3657600"/>
            <a:ext cx="10287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GAPIT 15%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06740" y="3657600"/>
            <a:ext cx="342900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06740" y="3657600"/>
            <a:ext cx="3429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ĐL 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4133087"/>
            <a:ext cx="118872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01A40"/>
                </a:solidFill>
                <a:latin typeface="Calibri"/>
              </a:rPr>
              <a:t>Bậc 100–299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91639" y="4133087"/>
            <a:ext cx="5486400" cy="38404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91639" y="4133087"/>
            <a:ext cx="54864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Giá VNG 80%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78040" y="4133087"/>
            <a:ext cx="822960" cy="384048"/>
          </a:xfrm>
          <a:prstGeom prst="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78040" y="4133087"/>
            <a:ext cx="82296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GAPIT 12%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01000" y="4133087"/>
            <a:ext cx="548640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001000" y="4133087"/>
            <a:ext cx="54864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ĐL 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4608576"/>
            <a:ext cx="118872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01A40"/>
                </a:solidFill>
                <a:latin typeface="Calibri"/>
              </a:rPr>
              <a:t>Bậc ≥300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91639" y="4608576"/>
            <a:ext cx="5486400" cy="38404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91639" y="4608576"/>
            <a:ext cx="54864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Giá VNG 80%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78040" y="4608576"/>
            <a:ext cx="685800" cy="384048"/>
          </a:xfrm>
          <a:prstGeom prst="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78040" y="4608576"/>
            <a:ext cx="6858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GAPIT 10%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4608576"/>
            <a:ext cx="685800" cy="3840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63840" y="4608576"/>
            <a:ext cx="685800" cy="38404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ĐL 10%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144000" y="1627632"/>
            <a:ext cx="2651760" cy="365760"/>
          </a:xfrm>
          <a:prstGeom prst="roundRect">
            <a:avLst/>
          </a:prstGeom>
          <a:solidFill>
            <a:srgbClr val="001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44000" y="1627632"/>
            <a:ext cx="265176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VÍ DỤ — zBusiness 12 tháng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0" y="2066543"/>
            <a:ext cx="2651760" cy="45720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1A40"/>
                </a:solidFill>
                <a:latin typeface="Calibri"/>
              </a:rPr>
              <a:t>Zalo retail 1.990.000đ</a:t>
            </a:r>
          </a:p>
          <a:p>
            <a:pPr algn="l">
              <a:lnSpc>
                <a:spcPct val="103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568"/>
                </a:solidFill>
                <a:latin typeface="Calibri"/>
              </a:rPr>
              <a:t>VNG → GAPIT 1.592.000đ (−20%)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44000" y="2615184"/>
            <a:ext cx="2651760" cy="10789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0" y="2615184"/>
            <a:ext cx="91440" cy="107899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26880" y="2670048"/>
            <a:ext cx="2377440" cy="23774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C55E"/>
                </a:solidFill>
                <a:latin typeface="Calibri"/>
              </a:rPr>
              <a:t>Bậc ≥300 · CK 10%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0" y="2926079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4A5568"/>
                </a:solidFill>
                <a:latin typeface="Calibri"/>
              </a:rPr>
              <a:t>ĐL mua: </a:t>
            </a:r>
            <a:r>
              <a:rPr sz="930" b="1">
                <a:solidFill>
                  <a:srgbClr val="001A40"/>
                </a:solidFill>
                <a:latin typeface="Calibri"/>
              </a:rPr>
              <a:t>1.791.000đ</a:t>
            </a:r>
          </a:p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0"/>
              </a:spcAft>
            </a:pPr>
            <a:r>
              <a:rPr sz="930" b="0">
                <a:solidFill>
                  <a:srgbClr val="4A5568"/>
                </a:solidFill>
                <a:latin typeface="Calibri"/>
              </a:rPr>
              <a:t>Biên GAPIT: </a:t>
            </a:r>
            <a:r>
              <a:rPr sz="930" b="1">
                <a:solidFill>
                  <a:srgbClr val="F5862C"/>
                </a:solidFill>
                <a:latin typeface="Calibri"/>
              </a:rPr>
              <a:t>199.000đ (10%)</a:t>
            </a:r>
          </a:p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0"/>
              </a:spcAft>
            </a:pPr>
            <a:r>
              <a:rPr sz="930" b="0">
                <a:solidFill>
                  <a:srgbClr val="4A5568"/>
                </a:solidFill>
                <a:latin typeface="Calibri"/>
              </a:rPr>
              <a:t>Biên Đại lý: </a:t>
            </a:r>
            <a:r>
              <a:rPr sz="930" b="1">
                <a:solidFill>
                  <a:srgbClr val="22C55E"/>
                </a:solidFill>
                <a:latin typeface="Calibri"/>
              </a:rPr>
              <a:t>199.000đ (10%)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144000" y="3822191"/>
            <a:ext cx="2651760" cy="10789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0" y="3822191"/>
            <a:ext cx="91440" cy="1078992"/>
          </a:xfrm>
          <a:prstGeom prst="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26880" y="3877055"/>
            <a:ext cx="2377440" cy="23774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862C"/>
                </a:solidFill>
                <a:latin typeface="Calibri"/>
              </a:rPr>
              <a:t>Bậc 50–99 · CK 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4133087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4A5568"/>
                </a:solidFill>
                <a:latin typeface="Calibri"/>
              </a:rPr>
              <a:t>ĐL mua: </a:t>
            </a:r>
            <a:r>
              <a:rPr sz="930" b="1">
                <a:solidFill>
                  <a:srgbClr val="001A40"/>
                </a:solidFill>
                <a:latin typeface="Calibri"/>
              </a:rPr>
              <a:t>1.890.500đ</a:t>
            </a:r>
          </a:p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0"/>
              </a:spcAft>
            </a:pPr>
            <a:r>
              <a:rPr sz="930" b="0">
                <a:solidFill>
                  <a:srgbClr val="4A5568"/>
                </a:solidFill>
                <a:latin typeface="Calibri"/>
              </a:rPr>
              <a:t>Biên GAPIT: </a:t>
            </a:r>
            <a:r>
              <a:rPr sz="930" b="1">
                <a:solidFill>
                  <a:srgbClr val="F5862C"/>
                </a:solidFill>
                <a:latin typeface="Calibri"/>
              </a:rPr>
              <a:t>298.500đ (15%)</a:t>
            </a:r>
          </a:p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0"/>
              </a:spcAft>
            </a:pPr>
            <a:r>
              <a:rPr sz="930" b="0">
                <a:solidFill>
                  <a:srgbClr val="4A5568"/>
                </a:solidFill>
                <a:latin typeface="Calibri"/>
              </a:rPr>
              <a:t>Biên Đại lý: </a:t>
            </a:r>
            <a:r>
              <a:rPr sz="930" b="1">
                <a:solidFill>
                  <a:srgbClr val="22C55E"/>
                </a:solidFill>
                <a:latin typeface="Calibri"/>
              </a:rPr>
              <a:t>99.500đ (5%)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11480" y="5440680"/>
            <a:ext cx="11384280" cy="868680"/>
          </a:xfrm>
          <a:prstGeom prst="roundRect">
            <a:avLst/>
          </a:prstGeom>
          <a:solidFill>
            <a:srgbClr val="FFF6E9"/>
          </a:solidFill>
          <a:ln w="9525">
            <a:solidFill>
              <a:srgbClr val="F58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5504688"/>
            <a:ext cx="11064240" cy="77724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5862C"/>
                </a:solidFill>
                <a:latin typeface="Calibri"/>
              </a:rPr>
              <a:t>Lưu ý: </a:t>
            </a:r>
            <a:r>
              <a:rPr sz="950" b="0">
                <a:solidFill>
                  <a:srgbClr val="4A5568"/>
                </a:solidFill>
                <a:latin typeface="Calibri"/>
              </a:rPr>
              <a:t>“Tổng biên kênh ≈20%” suy ra từ giá zBusiness 12 tháng tại Phụ lục HĐ VNG–GAPIT; các gói khác (zCloud/zStyle…) theo Phụ lục tương ứng — cập nhật % thực tế khi có giá từng gói.</a:t>
            </a:r>
          </a:p>
          <a:p>
            <a:pPr algn="l">
              <a:lnSpc>
                <a:spcPct val="103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568"/>
                </a:solidFill>
                <a:latin typeface="Calibri"/>
              </a:rPr>
              <a:t>Chiết khấu Đại lý cấp II tính trên Giá bán lẻ trực tiếp của Zalo (giá sàn công khai). Mã code đã mua: không hoàn/đổi (chính sách VNG). Đại lý không được bán công khai dưới giá sàn.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7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"/>
            <a:ext cx="992564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27632" y="109728"/>
            <a:ext cx="274320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68FF"/>
                </a:solidFill>
                <a:latin typeface="Arial"/>
              </a:rPr>
              <a:t>×  Zalo 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91440"/>
            <a:ext cx="1920240" cy="365760"/>
          </a:xfrm>
          <a:prstGeom prst="roundRect">
            <a:avLst/>
          </a:prstGeom>
          <a:solidFill>
            <a:srgbClr val="F5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91440"/>
            <a:ext cx="1920240" cy="36576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Calibri"/>
              </a:rPr>
              <a:t>ORDER FLOW · 3/3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0080"/>
            <a:ext cx="11521440" cy="420624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01A40"/>
                </a:solidFill>
                <a:latin typeface="Arial"/>
              </a:rPr>
              <a:t>Order Flow trên zVAS CMS (6 bước · không GapOne)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15568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18096"/>
                </a:solidFill>
                <a:latin typeface="Calibri"/>
              </a:rPr>
              <a:t>Phân luồng theo các bên tham gia trên hệ thống zVAS CMS (Service Platform) — quản lý code pool, đơn hàng, kích hoạt, hóa đơn.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6583680"/>
            <a:ext cx="11384280" cy="201168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83680"/>
            <a:ext cx="11064240" cy="201168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GAPIT JSC  |  gapit.com.vn</a:t>
            </a:r>
            <a:r>
              <a:rPr sz="800" b="0">
                <a:solidFill>
                  <a:srgbClr val="FFFFFF"/>
                </a:solidFill>
                <a:latin typeface="Calibri"/>
              </a:rPr>
              <a:t>     —  Business Roadmap sản phẩm zVAS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2224" y="1517904"/>
            <a:ext cx="1644396" cy="457200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92224" y="1536192"/>
            <a:ext cx="1644396" cy="18288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C5FD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4" y="1719072"/>
            <a:ext cx="1644396" cy="237744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Calibri"/>
              </a:rPr>
              <a:t>View Catalog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1484" y="1517904"/>
            <a:ext cx="1644396" cy="457200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1484" y="1536192"/>
            <a:ext cx="1644396" cy="18288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C5FD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1484" y="1719072"/>
            <a:ext cx="1644396" cy="237744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Calibri"/>
              </a:rPr>
              <a:t>Chọn Bundle / Seats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0744" y="1517904"/>
            <a:ext cx="1644396" cy="457200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0744" y="1536192"/>
            <a:ext cx="1644396" cy="18288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C5FD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0744" y="1719072"/>
            <a:ext cx="1644396" cy="237744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Calibri"/>
              </a:rPr>
              <a:t>Báo giá (Prorate + VAT)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90004" y="1517904"/>
            <a:ext cx="1644396" cy="457200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0004" y="1536192"/>
            <a:ext cx="1644396" cy="18288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C5FD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0004" y="1719072"/>
            <a:ext cx="1644396" cy="237744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Calibri"/>
              </a:rPr>
              <a:t>Thanh toán + Hóa đơn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9264" y="1517904"/>
            <a:ext cx="1644396" cy="457200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89264" y="1536192"/>
            <a:ext cx="1644396" cy="18288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C5FD"/>
                </a:solidFill>
                <a:latin typeface="Arial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9264" y="1719072"/>
            <a:ext cx="1644396" cy="237744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Calibri"/>
              </a:rPr>
              <a:t>Subscription Active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88524" y="1517904"/>
            <a:ext cx="1644396" cy="457200"/>
          </a:xfrm>
          <a:prstGeom prst="roundRect">
            <a:avLst/>
          </a:prstGeom>
          <a:solidFill>
            <a:srgbClr val="003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8524" y="1536192"/>
            <a:ext cx="1644396" cy="182880"/>
          </a:xfrm>
          <a:prstGeom prst="rect">
            <a:avLst/>
          </a:prstGeom>
          <a:noFill/>
        </p:spPr>
        <p:txBody>
          <a:bodyPr wrap="square" anchor="t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3C5FD"/>
                </a:solidFill>
                <a:latin typeface="Arial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8524" y="1719072"/>
            <a:ext cx="1644396" cy="237744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Calibri"/>
              </a:rPr>
              <a:t>Pool &amp; Phân bổ seats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029968"/>
            <a:ext cx="1325880" cy="896112"/>
          </a:xfrm>
          <a:prstGeom prst="round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" y="2121408"/>
            <a:ext cx="1216152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Client</a:t>
            </a:r>
          </a:p>
          <a:p>
            <a:pPr algn="l">
              <a:lnSpc>
                <a:spcPct val="103000"/>
              </a:lnSpc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Calibri"/>
              </a:rPr>
              <a:t>Owner / Admin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92224" y="2029968"/>
            <a:ext cx="1644396" cy="896112"/>
          </a:xfrm>
          <a:prstGeom prst="roundRect">
            <a:avLst/>
          </a:prstGeom>
          <a:solidFill>
            <a:srgbClr val="E6F1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10512" y="2066544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Duyệt catalog zBusiness/zCloud/zStyle/SIM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So sánh bundle &amp; bảng giá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1484" y="2029968"/>
            <a:ext cx="1644396" cy="896112"/>
          </a:xfrm>
          <a:prstGeom prst="roundRect">
            <a:avLst/>
          </a:prstGeom>
          <a:solidFill>
            <a:srgbClr val="E6F1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09772" y="2066544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Chọn bundle + số seat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Chu kỳ tháng/năm · xem giá tạm tính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90744" y="2029968"/>
            <a:ext cx="1644396" cy="896112"/>
          </a:xfrm>
          <a:prstGeom prst="roundRect">
            <a:avLst/>
          </a:prstGeom>
          <a:solidFill>
            <a:srgbClr val="E6F1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09032" y="2066544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Review quote PDF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Xác nhận prorate · approve đơn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90004" y="2029968"/>
            <a:ext cx="1644396" cy="896112"/>
          </a:xfrm>
          <a:prstGeom prst="roundRect">
            <a:avLst/>
          </a:prstGeom>
          <a:solidFill>
            <a:srgbClr val="E6F1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8292" y="2066544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Chuyển khoản / ZaloPay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Upload payment proof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89264" y="2029968"/>
            <a:ext cx="1644396" cy="896112"/>
          </a:xfrm>
          <a:prstGeom prst="roundRect">
            <a:avLst/>
          </a:prstGeom>
          <a:solidFill>
            <a:srgbClr val="E6F1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7552" y="2066544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Nhận email active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Truy cập Client Portal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88524" y="2029968"/>
            <a:ext cx="1644396" cy="896112"/>
          </a:xfrm>
          <a:prstGeom prst="roundRect">
            <a:avLst/>
          </a:prstGeom>
          <a:solidFill>
            <a:srgbClr val="E6F1FB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06812" y="2066544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Vào Pool · phân bổ seat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185FA5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Theo phòng ban / org tree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2926080"/>
            <a:ext cx="1325880" cy="896112"/>
          </a:xfrm>
          <a:prstGeom prst="round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6344" y="3017520"/>
            <a:ext cx="1216152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zVAS CMS</a:t>
            </a:r>
          </a:p>
          <a:p>
            <a:pPr algn="l">
              <a:lnSpc>
                <a:spcPct val="103000"/>
              </a:lnSpc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Calibri"/>
              </a:rPr>
              <a:t>System · auto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92224" y="2926080"/>
            <a:ext cx="1644396" cy="896112"/>
          </a:xfrm>
          <a:prstGeom prst="roundRect">
            <a:avLst/>
          </a:prstGeom>
          <a:solidFill>
            <a:srgbClr val="EEEDF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10512" y="2962656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Render catalog theo phân quyền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Pricing rules &amp; feature matrix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91484" y="2926080"/>
            <a:ext cx="1644396" cy="896112"/>
          </a:xfrm>
          <a:prstGeom prst="roundRect">
            <a:avLst/>
          </a:prstGeom>
          <a:solidFill>
            <a:srgbClr val="EEEDF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09772" y="2962656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Validate seat (min/max)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Cảnh báo code hạn 6/3/2/1 thg · tạo order (draft)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90744" y="2926080"/>
            <a:ext cx="1644396" cy="896112"/>
          </a:xfrm>
          <a:prstGeom prst="roundRect">
            <a:avLst/>
          </a:prstGeom>
          <a:solidFill>
            <a:srgbClr val="EEEDF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09032" y="2962656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Tính prorate · VAT 10%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Generate quote PDF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90004" y="2926080"/>
            <a:ext cx="1644396" cy="896112"/>
          </a:xfrm>
          <a:prstGeom prst="roundRect">
            <a:avLst/>
          </a:prstGeom>
          <a:solidFill>
            <a:srgbClr val="EEEDF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08292" y="2962656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Xuất invoice PDF (VAT·MST)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Set pending_payment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589264" y="2926080"/>
            <a:ext cx="1644396" cy="896112"/>
          </a:xfrm>
          <a:prstGeom prst="roundRect">
            <a:avLst/>
          </a:prstGeom>
          <a:solidFill>
            <a:srgbClr val="EEEDF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07552" y="2962656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Tạo subscription · set dates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Auto-select code sắp hết hạn · draft→active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288524" y="2926080"/>
            <a:ext cx="1644396" cy="896112"/>
          </a:xfrm>
          <a:prstGeom prst="roundRect">
            <a:avLst/>
          </a:prstGeom>
          <a:solidFill>
            <a:srgbClr val="EEEDF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06812" y="2962656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Cộng seat vào Pool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534AB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available=purchased−allocated · log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3822191"/>
            <a:ext cx="1325880" cy="896112"/>
          </a:xfrm>
          <a:prstGeom prst="round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6344" y="3913631"/>
            <a:ext cx="1216152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GAPIT Sales/Admin</a:t>
            </a:r>
          </a:p>
          <a:p>
            <a:pPr algn="l">
              <a:lnSpc>
                <a:spcPct val="103000"/>
              </a:lnSpc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Calibri"/>
              </a:rPr>
              <a:t>Internal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792224" y="3822191"/>
            <a:ext cx="1644396" cy="896112"/>
          </a:xfrm>
          <a:prstGeom prst="roundRect">
            <a:avLst/>
          </a:prstGeom>
          <a:solidFill>
            <a:srgbClr val="E1F5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10512" y="3858768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Demo catalog cho KH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Khởi tạo order hộ (sales-assist)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491484" y="3822191"/>
            <a:ext cx="1644396" cy="896112"/>
          </a:xfrm>
          <a:prstGeom prst="roundRect">
            <a:avLst/>
          </a:prstGeom>
          <a:solidFill>
            <a:srgbClr val="E1F5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09772" y="3858768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Cấu hình custom bundle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Enterprise pricing · note nội bộ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190744" y="3822191"/>
            <a:ext cx="1644396" cy="896112"/>
          </a:xfrm>
          <a:prstGeom prst="roundRect">
            <a:avLst/>
          </a:prstGeom>
          <a:solidFill>
            <a:srgbClr val="E1F5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09032" y="3858768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Approve quote custom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Gửi KH qua email / Zalo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90004" y="3822191"/>
            <a:ext cx="1644396" cy="896112"/>
          </a:xfrm>
          <a:prstGeom prst="roundRect">
            <a:avLst/>
          </a:prstGeom>
          <a:solidFill>
            <a:srgbClr val="E1F5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08292" y="3858768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⚠ Verify thanh toán thủ công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Mark paid → CMS kích hoạt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89264" y="3822191"/>
            <a:ext cx="1644396" cy="896112"/>
          </a:xfrm>
          <a:prstGeom prst="roundRect">
            <a:avLst/>
          </a:prstGeom>
          <a:solidFill>
            <a:srgbClr val="E1F5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7552" y="3858768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Cập nhật KPI pipeline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Ghi nhận MRR mới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288524" y="3822191"/>
            <a:ext cx="1644396" cy="896112"/>
          </a:xfrm>
          <a:prstGeom prst="roundRect">
            <a:avLst/>
          </a:prstGeom>
          <a:solidFill>
            <a:srgbClr val="E1F5EE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06812" y="3858768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Theo dõi tồn kho code pool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0F6E56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Chuẩn bị activation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" y="4718304"/>
            <a:ext cx="1325880" cy="896112"/>
          </a:xfrm>
          <a:prstGeom prst="roundRect">
            <a:avLst/>
          </a:prstGeom>
          <a:solidFill>
            <a:srgbClr val="BA7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6344" y="4809744"/>
            <a:ext cx="1216152" cy="45720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Calibri"/>
              </a:rPr>
              <a:t>Payment / Ngoài</a:t>
            </a:r>
          </a:p>
          <a:p>
            <a:pPr algn="l">
              <a:lnSpc>
                <a:spcPct val="103000"/>
              </a:lnSpc>
              <a:spcBef>
                <a:spcPts val="100"/>
              </a:spcBef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Calibri"/>
              </a:rPr>
              <a:t>ZaloPay·Bank·VNPT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792224" y="4718304"/>
            <a:ext cx="1644396" cy="896112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92224" y="4718304"/>
            <a:ext cx="1644396" cy="896112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91484" y="4718304"/>
            <a:ext cx="1644396" cy="896112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91484" y="4718304"/>
            <a:ext cx="1644396" cy="896112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190744" y="4718304"/>
            <a:ext cx="1644396" cy="896112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90744" y="4718304"/>
            <a:ext cx="1644396" cy="896112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890004" y="4718304"/>
            <a:ext cx="1644396" cy="896112"/>
          </a:xfrm>
          <a:prstGeom prst="roundRect">
            <a:avLst/>
          </a:prstGeom>
          <a:solidFill>
            <a:srgbClr val="FAEEDA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08292" y="4754880"/>
            <a:ext cx="1598676" cy="841247"/>
          </a:xfrm>
          <a:prstGeom prst="rect">
            <a:avLst/>
          </a:prstGeom>
          <a:noFill/>
        </p:spPr>
        <p:txBody>
          <a:bodyPr wrap="square" lIns="45720" rIns="45720" tIns="18288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BA751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ZaloPay/Bank xử lý · transaction ID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730" b="1">
                <a:solidFill>
                  <a:srgbClr val="BA7517"/>
                </a:solidFill>
                <a:latin typeface="Calibri"/>
              </a:rPr>
              <a:t>▪ </a:t>
            </a:r>
            <a:r>
              <a:rPr sz="730">
                <a:solidFill>
                  <a:srgbClr val="4A5568"/>
                </a:solidFill>
                <a:latin typeface="Calibri"/>
              </a:rPr>
              <a:t>e-Contract bởi VNPT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89264" y="4718304"/>
            <a:ext cx="1644396" cy="896112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89264" y="4718304"/>
            <a:ext cx="1644396" cy="896112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88524" y="4718304"/>
            <a:ext cx="1644396" cy="896112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88524" y="4718304"/>
            <a:ext cx="1644396" cy="896112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5669280"/>
            <a:ext cx="1325880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18096"/>
                </a:solidFill>
                <a:latin typeface="Calibri"/>
              </a:rPr>
              <a:t>Trạng thái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792224" y="5669280"/>
            <a:ext cx="1644396" cy="2743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792224" y="5669280"/>
            <a:ext cx="1644396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718096"/>
                </a:solidFill>
                <a:latin typeface="Calibri"/>
              </a:rPr>
              <a:t>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91484" y="5669280"/>
            <a:ext cx="1644396" cy="2743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91484" y="5669280"/>
            <a:ext cx="1644396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338CA"/>
                </a:solidFill>
                <a:latin typeface="Calibri"/>
              </a:rPr>
              <a:t>draft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190744" y="5669280"/>
            <a:ext cx="1644396" cy="27432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0744" y="5669280"/>
            <a:ext cx="1644396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338CA"/>
                </a:solidFill>
                <a:latin typeface="Calibri"/>
              </a:rPr>
              <a:t>draft (quoted)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890004" y="5669280"/>
            <a:ext cx="1644396" cy="27432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90004" y="5669280"/>
            <a:ext cx="1644396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2400E"/>
                </a:solidFill>
                <a:latin typeface="Calibri"/>
              </a:rPr>
              <a:t>pending_payment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89264" y="5669280"/>
            <a:ext cx="1644396" cy="27432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89264" y="5669280"/>
            <a:ext cx="1644396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4532D"/>
                </a:solidFill>
                <a:latin typeface="Calibri"/>
              </a:rPr>
              <a:t>active ✓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288524" y="5669280"/>
            <a:ext cx="1644396" cy="27432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88524" y="5669280"/>
            <a:ext cx="1644396" cy="274320"/>
          </a:xfrm>
          <a:prstGeom prst="rect">
            <a:avLst/>
          </a:prstGeom>
          <a:noFill/>
        </p:spPr>
        <p:txBody>
          <a:bodyPr wrap="square" anchor="ctr" lIns="45720" rIns="45720" tIns="18288" bIns="9144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4532D"/>
                </a:solidFill>
                <a:latin typeface="Calibri"/>
              </a:rPr>
              <a:t>active + pool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