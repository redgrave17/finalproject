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7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"/>
            <a:ext cx="992564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109728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68FF"/>
                </a:solidFill>
                <a:latin typeface="Arial"/>
              </a:rPr>
              <a:t>×  Zalo VAS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91440"/>
            <a:ext cx="1920240" cy="365760"/>
          </a:xfrm>
          <a:prstGeom prst="roundRect">
            <a:avLst/>
          </a:prstGeom>
          <a:solidFill>
            <a:srgbClr val="F5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91440"/>
            <a:ext cx="1920240" cy="36576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ROADMAP · 1/3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"/>
            <a:ext cx="11521440" cy="420624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1A40"/>
                </a:solidFill>
                <a:latin typeface="Arial"/>
              </a:rPr>
              <a:t>Business Roadmap zVAS — Now · Next · Later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15568"/>
            <a:ext cx="11521440" cy="27432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18096"/>
                </a:solidFill>
                <a:latin typeface="Calibri"/>
              </a:rPr>
              <a:t>Roadmap theo kết quả/outcome &amp; horizon — không cố định ngày, ưu tiên theo chủ đề (theme) và giá trị.</a:t>
            </a:r>
          </a:p>
          <a:p>
            <a:pPr algn="l">
              <a:lnSpc>
                <a:spcPct val="103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718096"/>
                </a:solidFill>
                <a:latin typeface="Calibri"/>
              </a:rPr>
              <a:t>Khung tham khảo: Adrenalin — “Roadmapping Your Digital Product: A Definitive Guide”.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6583680"/>
            <a:ext cx="11384280" cy="201168"/>
          </a:xfrm>
          <a:prstGeom prst="round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11064240" cy="201168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GAPIT JSC  |  gapit.com.vn</a:t>
            </a:r>
            <a:r>
              <a:rPr sz="800" b="0">
                <a:solidFill>
                  <a:srgbClr val="FFFFFF"/>
                </a:solidFill>
                <a:latin typeface="Calibri"/>
              </a:rPr>
              <a:t>     —  Business Roadmap sản phẩm zVAS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554480"/>
            <a:ext cx="3703320" cy="841248"/>
          </a:xfrm>
          <a:prstGeom prst="roundRect">
            <a:avLst/>
          </a:prstGeom>
          <a:solidFill>
            <a:srgbClr val="00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609344"/>
            <a:ext cx="3392424" cy="310896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NOW</a:t>
            </a:r>
            <a:r>
              <a:rPr sz="1600" b="0">
                <a:solidFill>
                  <a:srgbClr val="FFFFFF"/>
                </a:solidFill>
                <a:latin typeface="Calibri"/>
              </a:rPr>
              <a:t>    Q2–Q3 /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1993392"/>
            <a:ext cx="3392424" cy="310896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Go-live &amp; Validate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468880"/>
            <a:ext cx="37033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468880"/>
            <a:ext cx="370332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" y="2505456"/>
            <a:ext cx="3447287" cy="512064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68FF"/>
                </a:solidFill>
                <a:latin typeface="Calibri"/>
              </a:rPr>
              <a:t>Outcome: vận hành B2B ổn định · dòng tiền trả trước · khởi động mạng đại lý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3520439" cy="28803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068FF"/>
                </a:solidFill>
                <a:latin typeface="Calibri"/>
              </a:rPr>
              <a:t>▪ </a:t>
            </a:r>
            <a:r>
              <a:rPr sz="1100">
                <a:solidFill>
                  <a:srgbClr val="4A5568"/>
                </a:solidFill>
                <a:latin typeface="Calibri"/>
              </a:rPr>
              <a:t>Hoàn thiện zVAS CMS: catalog, báo giá (prorate + VAT), hóa đơn, kích hoạt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068FF"/>
                </a:solidFill>
                <a:latin typeface="Calibri"/>
              </a:rPr>
              <a:t>▪ </a:t>
            </a:r>
            <a:r>
              <a:rPr sz="1100">
                <a:solidFill>
                  <a:srgbClr val="4A5568"/>
                </a:solidFill>
                <a:latin typeface="Calibri"/>
              </a:rPr>
              <a:t>Code pool &amp; cảnh báo hạn kích hoạt 6/3/2/1 tháng (trong 12 tháng từ nhập kho)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068FF"/>
                </a:solidFill>
                <a:latin typeface="Calibri"/>
              </a:rPr>
              <a:t>▪ </a:t>
            </a:r>
            <a:r>
              <a:rPr sz="1100">
                <a:solidFill>
                  <a:srgbClr val="4A5568"/>
                </a:solidFill>
                <a:latin typeface="Calibri"/>
              </a:rPr>
              <a:t>Go-live KHDN + ký HĐ Đại lý của GAPIT; DPA theo mẫu PDPA(VNI)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068FF"/>
                </a:solidFill>
                <a:latin typeface="Calibri"/>
              </a:rPr>
              <a:t>▪ </a:t>
            </a:r>
            <a:r>
              <a:rPr sz="1100">
                <a:solidFill>
                  <a:srgbClr val="4A5568"/>
                </a:solidFill>
                <a:latin typeface="Calibri"/>
              </a:rPr>
              <a:t>Chuẩn hóa cơ chế trả trước + bảng giá &amp; chiết khấu theo bậc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068FF"/>
                </a:solidFill>
                <a:latin typeface="Calibri"/>
              </a:rPr>
              <a:t>▪ </a:t>
            </a:r>
            <a:r>
              <a:rPr sz="1100">
                <a:solidFill>
                  <a:srgbClr val="4A5568"/>
                </a:solidFill>
                <a:latin typeface="Calibri"/>
              </a:rPr>
              <a:t>Đào tạo CSKH cấp 1; quy trình đổi Mã code lỗi (≤ 24h)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1554480"/>
            <a:ext cx="3703320" cy="841248"/>
          </a:xfrm>
          <a:prstGeom prst="round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7" y="1609344"/>
            <a:ext cx="3392424" cy="310896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NEXT</a:t>
            </a:r>
            <a:r>
              <a:rPr sz="1600" b="0">
                <a:solidFill>
                  <a:srgbClr val="FFFFFF"/>
                </a:solidFill>
                <a:latin typeface="Calibri"/>
              </a:rPr>
              <a:t>    Q4/2026 – Q1/2027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7" y="1993392"/>
            <a:ext cx="3392424" cy="310896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Scale &amp; Enable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42816" y="2468880"/>
            <a:ext cx="37033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42816" y="2468880"/>
            <a:ext cx="370332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1" y="2505456"/>
            <a:ext cx="3447287" cy="512064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E56"/>
                </a:solidFill>
                <a:latin typeface="Calibri"/>
              </a:rPr>
              <a:t>Outcome: nhân rộng kênh đại lý · tăng MRR · giảm thao tác thủ công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5" y="3127248"/>
            <a:ext cx="3520439" cy="28803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F6E56"/>
                </a:solidFill>
                <a:latin typeface="Calibri"/>
              </a:rPr>
              <a:t>▪ </a:t>
            </a:r>
            <a:r>
              <a:rPr sz="1100">
                <a:solidFill>
                  <a:srgbClr val="4A5568"/>
                </a:solidFill>
                <a:latin typeface="Calibri"/>
              </a:rPr>
              <a:t>Mở rộng mạng Đại lý của GAPIT: RACI, onboarding, KPI doanh số tối thiểu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F6E56"/>
                </a:solidFill>
                <a:latin typeface="Calibri"/>
              </a:rPr>
              <a:t>▪ </a:t>
            </a:r>
            <a:r>
              <a:rPr sz="1100">
                <a:solidFill>
                  <a:srgbClr val="4A5568"/>
                </a:solidFill>
                <a:latin typeface="Calibri"/>
              </a:rPr>
              <a:t>Portal Đại lý / Affiliate; báo cáo MRR &amp; tồn kho Mã code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F6E56"/>
                </a:solidFill>
                <a:latin typeface="Calibri"/>
              </a:rPr>
              <a:t>▪ </a:t>
            </a:r>
            <a:r>
              <a:rPr sz="1100">
                <a:solidFill>
                  <a:srgbClr val="4A5568"/>
                </a:solidFill>
                <a:latin typeface="Calibri"/>
              </a:rPr>
              <a:t>Tự động đối soát CSV zbox.vn; auto-select code sắp hết hạn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F6E56"/>
                </a:solidFill>
                <a:latin typeface="Calibri"/>
              </a:rPr>
              <a:t>▪ </a:t>
            </a:r>
            <a:r>
              <a:rPr sz="1100">
                <a:solidFill>
                  <a:srgbClr val="4A5568"/>
                </a:solidFill>
                <a:latin typeface="Calibri"/>
              </a:rPr>
              <a:t>Thêm bundle (zBusiness + zCloud + zStyle)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F6E56"/>
                </a:solidFill>
                <a:latin typeface="Calibri"/>
              </a:rPr>
              <a:t>▪ </a:t>
            </a:r>
            <a:r>
              <a:rPr sz="1100">
                <a:solidFill>
                  <a:srgbClr val="4A5568"/>
                </a:solidFill>
                <a:latin typeface="Calibri"/>
              </a:rPr>
              <a:t>Khuyến mại có kiểm soát giá sàn công khai (VNG)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554480"/>
            <a:ext cx="3703320" cy="841248"/>
          </a:xfrm>
          <a:prstGeom prst="round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8744" y="1609344"/>
            <a:ext cx="3392424" cy="310896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LATER</a:t>
            </a:r>
            <a:r>
              <a:rPr sz="1600" b="0">
                <a:solidFill>
                  <a:srgbClr val="FFFFFF"/>
                </a:solidFill>
                <a:latin typeface="Calibri"/>
              </a:rPr>
              <a:t>    2027 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1993392"/>
            <a:ext cx="3392424" cy="310896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Optimize &amp; Expand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74152" y="2468880"/>
            <a:ext cx="37033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74152" y="2468880"/>
            <a:ext cx="370332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2168" y="2505456"/>
            <a:ext cx="3447287" cy="512064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34AB7"/>
                </a:solidFill>
                <a:latin typeface="Calibri"/>
              </a:rPr>
              <a:t>Outcome: tối ưu biên lợi nhuận · mở rộng hệ sinh thái · tích hợp sâu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3127248"/>
            <a:ext cx="3520439" cy="28803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534AB7"/>
                </a:solidFill>
                <a:latin typeface="Calibri"/>
              </a:rPr>
              <a:t>▪ </a:t>
            </a:r>
            <a:r>
              <a:rPr sz="1100">
                <a:solidFill>
                  <a:srgbClr val="4A5568"/>
                </a:solidFill>
                <a:latin typeface="Calibri"/>
              </a:rPr>
              <a:t>API hóa khi VNG mở API → loại bỏ thao tác CSV thủ công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534AB7"/>
                </a:solidFill>
                <a:latin typeface="Calibri"/>
              </a:rPr>
              <a:t>▪ </a:t>
            </a:r>
            <a:r>
              <a:rPr sz="1100">
                <a:solidFill>
                  <a:srgbClr val="4A5568"/>
                </a:solidFill>
                <a:latin typeface="Calibri"/>
              </a:rPr>
              <a:t>Cross-sell eSIM / SIM doanh nghiệp; combo đa dịch vụ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534AB7"/>
                </a:solidFill>
                <a:latin typeface="Calibri"/>
              </a:rPr>
              <a:t>▪ </a:t>
            </a:r>
            <a:r>
              <a:rPr sz="1100">
                <a:solidFill>
                  <a:srgbClr val="4A5568"/>
                </a:solidFill>
                <a:latin typeface="Calibri"/>
              </a:rPr>
              <a:t>Analytics hành vi &amp; dự báo nhu cầu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534AB7"/>
                </a:solidFill>
                <a:latin typeface="Calibri"/>
              </a:rPr>
              <a:t>▪ </a:t>
            </a:r>
            <a:r>
              <a:rPr sz="1100">
                <a:solidFill>
                  <a:srgbClr val="4A5568"/>
                </a:solidFill>
                <a:latin typeface="Calibri"/>
              </a:rPr>
              <a:t>Tối ưu pricing &amp; biên theo bậc số lượng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534AB7"/>
                </a:solidFill>
                <a:latin typeface="Calibri"/>
              </a:rPr>
              <a:t>▪ </a:t>
            </a:r>
            <a:r>
              <a:rPr sz="1100">
                <a:solidFill>
                  <a:srgbClr val="4A5568"/>
                </a:solidFill>
                <a:latin typeface="Calibri"/>
              </a:rPr>
              <a:t>Loyalty cho Đại lý &amp; KHDN; mở rộng vùng/ngành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7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"/>
            <a:ext cx="992564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109728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68FF"/>
                </a:solidFill>
                <a:latin typeface="Arial"/>
              </a:rPr>
              <a:t>×  Zalo VAS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91440"/>
            <a:ext cx="1920240" cy="365760"/>
          </a:xfrm>
          <a:prstGeom prst="roundRect">
            <a:avLst/>
          </a:prstGeom>
          <a:solidFill>
            <a:srgbClr val="F5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91440"/>
            <a:ext cx="1920240" cy="36576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BIÊN LỢI NHUẬN · 2/3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"/>
            <a:ext cx="11521440" cy="420624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1A40"/>
                </a:solidFill>
                <a:latin typeface="Arial"/>
              </a:rPr>
              <a:t>Biên Lợi Nhuận — GAPIT &amp; Đại lý của GAPIT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15568"/>
            <a:ext cx="11521440" cy="27432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18096"/>
                </a:solidFill>
                <a:latin typeface="Calibri"/>
              </a:rPr>
              <a:t>Biên GAPIT = tuần tự trừ:  Chiết khấu GAPIT NHẬN từ VNG  −  Chiết khấu GAPIT CẤP cho Đại lý/KHDN.  (Chỉ có GAPIT và Đại lý của GAPIT — không có đại lý cấp II.)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6583680"/>
            <a:ext cx="11384280" cy="201168"/>
          </a:xfrm>
          <a:prstGeom prst="round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11064240" cy="201168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GAPIT JSC  |  gapit.com.vn</a:t>
            </a:r>
            <a:r>
              <a:rPr sz="800" b="0">
                <a:solidFill>
                  <a:srgbClr val="FFFFFF"/>
                </a:solidFill>
                <a:latin typeface="Calibri"/>
              </a:rPr>
              <a:t>     —  Business Roadmap sản phẩm zVAS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463040"/>
            <a:ext cx="557784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463040"/>
            <a:ext cx="91440" cy="841248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1508760"/>
            <a:ext cx="5212080" cy="310896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3F88"/>
                </a:solidFill>
                <a:latin typeface="Calibri"/>
              </a:rPr>
              <a:t>①  GAPIT NHẬN từ VNG  (theo SL GAPIT đặt)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1847088"/>
            <a:ext cx="5212080" cy="402336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1A40"/>
                </a:solidFill>
                <a:latin typeface="Calibri"/>
              </a:rPr>
              <a:t>100–299 code: 15%          ·          ≥ 300 code: 20%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463040"/>
            <a:ext cx="557784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463040"/>
            <a:ext cx="91440" cy="84124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508760"/>
            <a:ext cx="5212080" cy="310896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E56"/>
                </a:solidFill>
                <a:latin typeface="Calibri"/>
              </a:rPr>
              <a:t>②  GAPIT CẤP cho Đại lý / KHDN  (theo SL của ĐL/KHDN)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847088"/>
            <a:ext cx="5212080" cy="402336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1A40"/>
                </a:solidFill>
                <a:latin typeface="Calibri"/>
              </a:rPr>
              <a:t>50–99: 5%        ·        100–299: 8%        ·        ≥ 300: 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395728"/>
            <a:ext cx="11338560" cy="219456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18096"/>
                </a:solidFill>
                <a:latin typeface="Calibri"/>
              </a:rPr>
              <a:t>Biên GAPIT giữ lại  =  ①  −  ②        (mỗi ô:  </a:t>
            </a:r>
            <a:r>
              <a:rPr sz="1000" b="1">
                <a:solidFill>
                  <a:srgbClr val="F5862C"/>
                </a:solidFill>
                <a:latin typeface="Calibri"/>
              </a:rPr>
              <a:t>Biên GAPIT</a:t>
            </a:r>
            <a:r>
              <a:rPr sz="1000" b="1">
                <a:solidFill>
                  <a:srgbClr val="718096"/>
                </a:solidFill>
                <a:latin typeface="Calibri"/>
              </a:rPr>
              <a:t>  /  </a:t>
            </a:r>
            <a:r>
              <a:rPr sz="1000" b="1">
                <a:solidFill>
                  <a:srgbClr val="22C55E"/>
                </a:solidFill>
                <a:latin typeface="Calibri"/>
              </a:rPr>
              <a:t>Biên Đại lý/KHDN</a:t>
            </a:r>
            <a:r>
              <a:rPr sz="1000" b="1">
                <a:solidFill>
                  <a:srgbClr val="718096"/>
                </a:solidFill>
                <a:latin typeface="Calibri"/>
              </a:rPr>
              <a:t> 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651760"/>
            <a:ext cx="3017520" cy="54864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651760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GAPIT mua ↓   \   ĐL/KHDN 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2651760"/>
            <a:ext cx="2194560" cy="548640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265176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Calibri"/>
              </a:rPr>
              <a:t>ĐL/KHDN 50–99  (CK 5%)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60" y="2651760"/>
            <a:ext cx="2194560" cy="548640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265176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Calibri"/>
              </a:rPr>
              <a:t>100–299  (CK 8%)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2651760"/>
            <a:ext cx="2194560" cy="548640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265176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Calibri"/>
              </a:rPr>
              <a:t>≥ 300  (CK 10%)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200400"/>
            <a:ext cx="3017520" cy="548640"/>
          </a:xfrm>
          <a:prstGeom prst="rect">
            <a:avLst/>
          </a:prstGeom>
          <a:solidFill>
            <a:srgbClr val="EAF0F8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200400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1A40"/>
                </a:solidFill>
                <a:latin typeface="Calibri"/>
              </a:rPr>
              <a:t>≥ 300  (GAPIT −20%)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3200400"/>
            <a:ext cx="2194560" cy="548640"/>
          </a:xfrm>
          <a:prstGeom prst="rect">
            <a:avLst/>
          </a:prstGeom>
          <a:solidFill>
            <a:srgbClr val="FFF6E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320040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5862C"/>
                </a:solidFill>
                <a:latin typeface="Calibri"/>
              </a:rPr>
              <a:t>15%</a:t>
            </a:r>
            <a:r>
              <a:rPr sz="1150" b="0">
                <a:solidFill>
                  <a:srgbClr val="718096"/>
                </a:solidFill>
                <a:latin typeface="Calibri"/>
              </a:rPr>
              <a:t>  /  </a:t>
            </a:r>
            <a:r>
              <a:rPr sz="1150" b="1">
                <a:solidFill>
                  <a:srgbClr val="22C55E"/>
                </a:solidFill>
                <a:latin typeface="Calibri"/>
              </a:rPr>
              <a:t>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3560" y="3200400"/>
            <a:ext cx="2194560" cy="548640"/>
          </a:xfrm>
          <a:prstGeom prst="rect">
            <a:avLst/>
          </a:prstGeom>
          <a:solidFill>
            <a:srgbClr val="FFF6E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23560" y="320040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5862C"/>
                </a:solidFill>
                <a:latin typeface="Calibri"/>
              </a:rPr>
              <a:t>12%</a:t>
            </a:r>
            <a:r>
              <a:rPr sz="1150" b="0">
                <a:solidFill>
                  <a:srgbClr val="718096"/>
                </a:solidFill>
                <a:latin typeface="Calibri"/>
              </a:rPr>
              <a:t>  /  </a:t>
            </a:r>
            <a:r>
              <a:rPr sz="1150" b="1">
                <a:solidFill>
                  <a:srgbClr val="22C55E"/>
                </a:solidFill>
                <a:latin typeface="Calibri"/>
              </a:rPr>
              <a:t>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3200400"/>
            <a:ext cx="2194560" cy="548640"/>
          </a:xfrm>
          <a:prstGeom prst="rect">
            <a:avLst/>
          </a:prstGeom>
          <a:solidFill>
            <a:srgbClr val="FFF6E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20" y="320040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5862C"/>
                </a:solidFill>
                <a:latin typeface="Calibri"/>
              </a:rPr>
              <a:t>10%</a:t>
            </a:r>
            <a:r>
              <a:rPr sz="1150" b="0">
                <a:solidFill>
                  <a:srgbClr val="718096"/>
                </a:solidFill>
                <a:latin typeface="Calibri"/>
              </a:rPr>
              <a:t>  /  </a:t>
            </a:r>
            <a:r>
              <a:rPr sz="1150" b="1">
                <a:solidFill>
                  <a:srgbClr val="22C55E"/>
                </a:solidFill>
                <a:latin typeface="Calibri"/>
              </a:rPr>
              <a:t>10%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749039"/>
            <a:ext cx="3017520" cy="548640"/>
          </a:xfrm>
          <a:prstGeom prst="rect">
            <a:avLst/>
          </a:prstGeom>
          <a:solidFill>
            <a:srgbClr val="EAF0F8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749039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1A40"/>
                </a:solidFill>
                <a:latin typeface="Calibri"/>
              </a:rPr>
              <a:t>100–299  (GAPIT −15%)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0" y="3749039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3749039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5862C"/>
                </a:solidFill>
                <a:latin typeface="Calibri"/>
              </a:rPr>
              <a:t>10%</a:t>
            </a:r>
            <a:r>
              <a:rPr sz="1150" b="0">
                <a:solidFill>
                  <a:srgbClr val="718096"/>
                </a:solidFill>
                <a:latin typeface="Calibri"/>
              </a:rPr>
              <a:t>  /  </a:t>
            </a:r>
            <a:r>
              <a:rPr sz="1150" b="1">
                <a:solidFill>
                  <a:srgbClr val="22C55E"/>
                </a:solidFill>
                <a:latin typeface="Calibri"/>
              </a:rPr>
              <a:t>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23560" y="3749039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23560" y="3749039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5862C"/>
                </a:solidFill>
                <a:latin typeface="Calibri"/>
              </a:rPr>
              <a:t>7%</a:t>
            </a:r>
            <a:r>
              <a:rPr sz="1150" b="0">
                <a:solidFill>
                  <a:srgbClr val="718096"/>
                </a:solidFill>
                <a:latin typeface="Calibri"/>
              </a:rPr>
              <a:t>  /  </a:t>
            </a:r>
            <a:r>
              <a:rPr sz="1150" b="1">
                <a:solidFill>
                  <a:srgbClr val="22C55E"/>
                </a:solidFill>
                <a:latin typeface="Calibri"/>
              </a:rPr>
              <a:t>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3749039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18120" y="3749039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5862C"/>
                </a:solidFill>
                <a:latin typeface="Calibri"/>
              </a:rPr>
              <a:t>5%</a:t>
            </a:r>
            <a:r>
              <a:rPr sz="1150" b="0">
                <a:solidFill>
                  <a:srgbClr val="718096"/>
                </a:solidFill>
                <a:latin typeface="Calibri"/>
              </a:rPr>
              <a:t>  /  </a:t>
            </a:r>
            <a:r>
              <a:rPr sz="1150" b="1">
                <a:solidFill>
                  <a:srgbClr val="22C55E"/>
                </a:solidFill>
                <a:latin typeface="Calibri"/>
              </a:rPr>
              <a:t>10%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4425696"/>
            <a:ext cx="10972800" cy="201168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18096"/>
                </a:solidFill>
                <a:latin typeface="Calibri"/>
              </a:rPr>
              <a:t>Ví dụ minh họa — zBusiness 12 tháng · Giá bán lẻ Zalo 1.990.000đ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4663440"/>
            <a:ext cx="3703320" cy="12070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1480" y="4663440"/>
            <a:ext cx="91440" cy="1207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" y="4709160"/>
            <a:ext cx="3429000" cy="420624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22C55E"/>
                </a:solidFill>
                <a:latin typeface="Calibri"/>
              </a:rPr>
              <a:t>GAPIT mua ≥300 (−20%)  →  bán ĐL ≥300 (CK 10%)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" y="5138928"/>
            <a:ext cx="3429000" cy="694944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4A5568"/>
                </a:solidFill>
                <a:latin typeface="Calibri"/>
              </a:rPr>
              <a:t>Giá vốn GAPIT: </a:t>
            </a:r>
            <a:r>
              <a:rPr sz="860" b="1">
                <a:solidFill>
                  <a:srgbClr val="001A40"/>
                </a:solidFill>
                <a:latin typeface="Calibri"/>
              </a:rPr>
              <a:t>1.592.000đ</a:t>
            </a:r>
            <a:r>
              <a:rPr sz="860" b="0">
                <a:solidFill>
                  <a:srgbClr val="4A5568"/>
                </a:solidFill>
                <a:latin typeface="Calibri"/>
              </a:rPr>
              <a:t>   ·   ĐL/KHDN mua: </a:t>
            </a:r>
            <a:r>
              <a:rPr sz="860" b="1">
                <a:solidFill>
                  <a:srgbClr val="001A40"/>
                </a:solidFill>
                <a:latin typeface="Calibri"/>
              </a:rPr>
              <a:t>1.791.000đ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919" b="0">
                <a:solidFill>
                  <a:srgbClr val="4A5568"/>
                </a:solidFill>
                <a:latin typeface="Calibri"/>
              </a:rPr>
              <a:t>Biên GAPIT: </a:t>
            </a:r>
            <a:r>
              <a:rPr sz="919" b="1">
                <a:solidFill>
                  <a:srgbClr val="F5862C"/>
                </a:solidFill>
                <a:latin typeface="Calibri"/>
              </a:rPr>
              <a:t>199.000đ (10%)</a:t>
            </a:r>
          </a:p>
          <a:p>
            <a:pPr algn="l">
              <a:lnSpc>
                <a:spcPct val="103000"/>
              </a:lnSpc>
              <a:spcBef>
                <a:spcPts val="100"/>
              </a:spcBef>
              <a:spcAft>
                <a:spcPts val="0"/>
              </a:spcAft>
            </a:pPr>
            <a:r>
              <a:rPr sz="919" b="0">
                <a:solidFill>
                  <a:srgbClr val="4A5568"/>
                </a:solidFill>
                <a:latin typeface="Calibri"/>
              </a:rPr>
              <a:t>Biên Đại lý/KHDN: </a:t>
            </a:r>
            <a:r>
              <a:rPr sz="919" b="1">
                <a:solidFill>
                  <a:srgbClr val="22C55E"/>
                </a:solidFill>
                <a:latin typeface="Calibri"/>
              </a:rPr>
              <a:t>199.000đ (10%)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42816" y="4663440"/>
            <a:ext cx="3703320" cy="12070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8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42816" y="4663440"/>
            <a:ext cx="91440" cy="1207008"/>
          </a:xfrm>
          <a:prstGeom prst="rect">
            <a:avLst/>
          </a:prstGeom>
          <a:solidFill>
            <a:srgbClr val="F5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43983" y="4709160"/>
            <a:ext cx="3429000" cy="420624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5862C"/>
                </a:solidFill>
                <a:latin typeface="Calibri"/>
              </a:rPr>
              <a:t>GAPIT mua ≥300 (−20%)  →  bán ĐL 50–99 (CK 5%)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43983" y="5138928"/>
            <a:ext cx="3429000" cy="694944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4A5568"/>
                </a:solidFill>
                <a:latin typeface="Calibri"/>
              </a:rPr>
              <a:t>Giá vốn GAPIT: </a:t>
            </a:r>
            <a:r>
              <a:rPr sz="860" b="1">
                <a:solidFill>
                  <a:srgbClr val="001A40"/>
                </a:solidFill>
                <a:latin typeface="Calibri"/>
              </a:rPr>
              <a:t>1.592.000đ</a:t>
            </a:r>
            <a:r>
              <a:rPr sz="860" b="0">
                <a:solidFill>
                  <a:srgbClr val="4A5568"/>
                </a:solidFill>
                <a:latin typeface="Calibri"/>
              </a:rPr>
              <a:t>   ·   ĐL/KHDN mua: </a:t>
            </a:r>
            <a:r>
              <a:rPr sz="860" b="1">
                <a:solidFill>
                  <a:srgbClr val="001A40"/>
                </a:solidFill>
                <a:latin typeface="Calibri"/>
              </a:rPr>
              <a:t>1.890.500đ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919" b="0">
                <a:solidFill>
                  <a:srgbClr val="4A5568"/>
                </a:solidFill>
                <a:latin typeface="Calibri"/>
              </a:rPr>
              <a:t>Biên GAPIT: </a:t>
            </a:r>
            <a:r>
              <a:rPr sz="919" b="1">
                <a:solidFill>
                  <a:srgbClr val="F5862C"/>
                </a:solidFill>
                <a:latin typeface="Calibri"/>
              </a:rPr>
              <a:t>298.500đ (15%)</a:t>
            </a:r>
          </a:p>
          <a:p>
            <a:pPr algn="l">
              <a:lnSpc>
                <a:spcPct val="103000"/>
              </a:lnSpc>
              <a:spcBef>
                <a:spcPts val="100"/>
              </a:spcBef>
              <a:spcAft>
                <a:spcPts val="0"/>
              </a:spcAft>
            </a:pPr>
            <a:r>
              <a:rPr sz="919" b="0">
                <a:solidFill>
                  <a:srgbClr val="4A5568"/>
                </a:solidFill>
                <a:latin typeface="Calibri"/>
              </a:rPr>
              <a:t>Biên Đại lý/KHDN: </a:t>
            </a:r>
            <a:r>
              <a:rPr sz="919" b="1">
                <a:solidFill>
                  <a:srgbClr val="22C55E"/>
                </a:solidFill>
                <a:latin typeface="Calibri"/>
              </a:rPr>
              <a:t>99.500đ (5%)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74152" y="4663440"/>
            <a:ext cx="3703320" cy="12070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74152" y="4663440"/>
            <a:ext cx="91440" cy="1207008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75320" y="4709160"/>
            <a:ext cx="3429000" cy="420624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03F88"/>
                </a:solidFill>
                <a:latin typeface="Calibri"/>
              </a:rPr>
              <a:t>GAPIT mua 100–299 (−15%)  →  bán ĐL 100–299 (CK 8%)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5320" y="5138928"/>
            <a:ext cx="3429000" cy="694944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4A5568"/>
                </a:solidFill>
                <a:latin typeface="Calibri"/>
              </a:rPr>
              <a:t>Giá vốn GAPIT: </a:t>
            </a:r>
            <a:r>
              <a:rPr sz="860" b="1">
                <a:solidFill>
                  <a:srgbClr val="001A40"/>
                </a:solidFill>
                <a:latin typeface="Calibri"/>
              </a:rPr>
              <a:t>1.691.500đ</a:t>
            </a:r>
            <a:r>
              <a:rPr sz="860" b="0">
                <a:solidFill>
                  <a:srgbClr val="4A5568"/>
                </a:solidFill>
                <a:latin typeface="Calibri"/>
              </a:rPr>
              <a:t>   ·   ĐL/KHDN mua: </a:t>
            </a:r>
            <a:r>
              <a:rPr sz="860" b="1">
                <a:solidFill>
                  <a:srgbClr val="001A40"/>
                </a:solidFill>
                <a:latin typeface="Calibri"/>
              </a:rPr>
              <a:t>1.830.800đ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919" b="0">
                <a:solidFill>
                  <a:srgbClr val="4A5568"/>
                </a:solidFill>
                <a:latin typeface="Calibri"/>
              </a:rPr>
              <a:t>Biên GAPIT: </a:t>
            </a:r>
            <a:r>
              <a:rPr sz="919" b="1">
                <a:solidFill>
                  <a:srgbClr val="F5862C"/>
                </a:solidFill>
                <a:latin typeface="Calibri"/>
              </a:rPr>
              <a:t>139.300đ (7%)</a:t>
            </a:r>
          </a:p>
          <a:p>
            <a:pPr algn="l">
              <a:lnSpc>
                <a:spcPct val="103000"/>
              </a:lnSpc>
              <a:spcBef>
                <a:spcPts val="100"/>
              </a:spcBef>
              <a:spcAft>
                <a:spcPts val="0"/>
              </a:spcAft>
            </a:pPr>
            <a:r>
              <a:rPr sz="919" b="0">
                <a:solidFill>
                  <a:srgbClr val="4A5568"/>
                </a:solidFill>
                <a:latin typeface="Calibri"/>
              </a:rPr>
              <a:t>Biên Đại lý/KHDN: </a:t>
            </a:r>
            <a:r>
              <a:rPr sz="919" b="1">
                <a:solidFill>
                  <a:srgbClr val="22C55E"/>
                </a:solidFill>
                <a:latin typeface="Calibri"/>
              </a:rPr>
              <a:t>159.200đ (8%)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1480" y="5989320"/>
            <a:ext cx="11384280" cy="530352"/>
          </a:xfrm>
          <a:prstGeom prst="roundRect">
            <a:avLst/>
          </a:prstGeom>
          <a:solidFill>
            <a:srgbClr val="FFF6E9"/>
          </a:solidFill>
          <a:ln w="9525">
            <a:solidFill>
              <a:srgbClr val="F58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6025896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5862C"/>
                </a:solidFill>
                <a:latin typeface="Calibri"/>
              </a:rPr>
              <a:t>Lưu ý: </a:t>
            </a:r>
            <a:r>
              <a:rPr sz="869" b="0">
                <a:solidFill>
                  <a:srgbClr val="4A5568"/>
                </a:solidFill>
                <a:latin typeface="Calibri"/>
              </a:rPr>
              <a:t>Chiết khấu tính trên Giá bán lẻ trực tiếp của Zalo (giá sàn công khai). Tổng biên kênh = chiết khấu GAPIT nhận từ VNG (15–20% theo SL GAPIT đặt); GAPIT giữ = phần còn lại sau khi cấp chiết khấu cho Đại lý/KHDN. GAPIT bán trực tiếp KHDN ở giá sàn → giữ trọn 15–20%. Mã code đã mua: không hoàn/đổi (chính sách VNG); không bán công khai dưới giá sàn. Số ví dụ theo zBusiness 12T — gói khác theo Phụ lục.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7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"/>
            <a:ext cx="992564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109728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68FF"/>
                </a:solidFill>
                <a:latin typeface="Arial"/>
              </a:rPr>
              <a:t>×  Zalo VAS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91440"/>
            <a:ext cx="1920240" cy="365760"/>
          </a:xfrm>
          <a:prstGeom prst="roundRect">
            <a:avLst/>
          </a:prstGeom>
          <a:solidFill>
            <a:srgbClr val="F5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91440"/>
            <a:ext cx="1920240" cy="36576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ORDER FLOW · 3/3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"/>
            <a:ext cx="11521440" cy="420624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1A40"/>
                </a:solidFill>
                <a:latin typeface="Arial"/>
              </a:rPr>
              <a:t>Order Flow trên zVAS CMS (6 bước · không GapOne)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15568"/>
            <a:ext cx="11521440" cy="27432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18096"/>
                </a:solidFill>
                <a:latin typeface="Calibri"/>
              </a:rPr>
              <a:t>Phân luồng theo các bên tham gia trên hệ thống zVAS CMS (Service Platform) — quản lý code pool, đơn hàng, kích hoạt, hóa đơn.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6583680"/>
            <a:ext cx="11384280" cy="201168"/>
          </a:xfrm>
          <a:prstGeom prst="round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11064240" cy="201168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GAPIT JSC  |  gapit.com.vn</a:t>
            </a:r>
            <a:r>
              <a:rPr sz="800" b="0">
                <a:solidFill>
                  <a:srgbClr val="FFFFFF"/>
                </a:solidFill>
                <a:latin typeface="Calibri"/>
              </a:rPr>
              <a:t>     —  Business Roadmap sản phẩm zVAS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92224" y="1517904"/>
            <a:ext cx="1644396" cy="457200"/>
          </a:xfrm>
          <a:prstGeom prst="round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92224" y="1536192"/>
            <a:ext cx="1644396" cy="18288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3C5FD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4" y="1719072"/>
            <a:ext cx="1644396" cy="237744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View Catalog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1484" y="1517904"/>
            <a:ext cx="1644396" cy="457200"/>
          </a:xfrm>
          <a:prstGeom prst="round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1484" y="1536192"/>
            <a:ext cx="1644396" cy="18288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3C5FD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1484" y="1719072"/>
            <a:ext cx="1644396" cy="237744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Chọn Bundle / Seats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90744" y="1517904"/>
            <a:ext cx="1644396" cy="457200"/>
          </a:xfrm>
          <a:prstGeom prst="round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0744" y="1536192"/>
            <a:ext cx="1644396" cy="18288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3C5F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0744" y="1719072"/>
            <a:ext cx="1644396" cy="237744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Báo giá (Prorate + VAT)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90004" y="1517904"/>
            <a:ext cx="1644396" cy="457200"/>
          </a:xfrm>
          <a:prstGeom prst="round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90004" y="1536192"/>
            <a:ext cx="1644396" cy="18288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3C5FD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0004" y="1719072"/>
            <a:ext cx="1644396" cy="237744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Thanh toán + Hóa đơn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89264" y="1517904"/>
            <a:ext cx="1644396" cy="457200"/>
          </a:xfrm>
          <a:prstGeom prst="round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89264" y="1536192"/>
            <a:ext cx="1644396" cy="18288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3C5FD"/>
                </a:solidFill>
                <a:latin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9264" y="1719072"/>
            <a:ext cx="1644396" cy="237744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Subscription Active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88524" y="1517904"/>
            <a:ext cx="1644396" cy="457200"/>
          </a:xfrm>
          <a:prstGeom prst="round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88524" y="1536192"/>
            <a:ext cx="1644396" cy="18288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3C5FD"/>
                </a:solidFill>
                <a:latin typeface="Arial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8524" y="1719072"/>
            <a:ext cx="1644396" cy="237744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Pool &amp; Phân bổ seats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029968"/>
            <a:ext cx="1325880" cy="896112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" y="2121408"/>
            <a:ext cx="1216152" cy="45720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Client</a:t>
            </a:r>
          </a:p>
          <a:p>
            <a:pPr algn="l">
              <a:lnSpc>
                <a:spcPct val="103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Calibri"/>
              </a:rPr>
              <a:t>Owner / Admin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92224" y="2029968"/>
            <a:ext cx="1644396" cy="896112"/>
          </a:xfrm>
          <a:prstGeom prst="roundRect">
            <a:avLst/>
          </a:prstGeom>
          <a:solidFill>
            <a:srgbClr val="E6F1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10512" y="2066544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185FA5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Duyệt catalog zBusiness/zCloud/zStyle/SIM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185FA5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So sánh bundle &amp; bảng giá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91484" y="2029968"/>
            <a:ext cx="1644396" cy="896112"/>
          </a:xfrm>
          <a:prstGeom prst="roundRect">
            <a:avLst/>
          </a:prstGeom>
          <a:solidFill>
            <a:srgbClr val="E6F1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09772" y="2066544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185FA5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Chọn bundle + số seat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185FA5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Chu kỳ tháng/năm · xem giá tạm tính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90744" y="2029968"/>
            <a:ext cx="1644396" cy="896112"/>
          </a:xfrm>
          <a:prstGeom prst="roundRect">
            <a:avLst/>
          </a:prstGeom>
          <a:solidFill>
            <a:srgbClr val="E6F1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09032" y="2066544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185FA5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Review quote PDF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185FA5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Xác nhận prorate · approve đơn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90004" y="2029968"/>
            <a:ext cx="1644396" cy="896112"/>
          </a:xfrm>
          <a:prstGeom prst="roundRect">
            <a:avLst/>
          </a:prstGeom>
          <a:solidFill>
            <a:srgbClr val="E6F1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8292" y="2066544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185FA5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Chuyển khoản / ZaloPay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185FA5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Upload payment proof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89264" y="2029968"/>
            <a:ext cx="1644396" cy="896112"/>
          </a:xfrm>
          <a:prstGeom prst="roundRect">
            <a:avLst/>
          </a:prstGeom>
          <a:solidFill>
            <a:srgbClr val="E6F1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07552" y="2066544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185FA5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Nhận email active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185FA5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Truy cập Client Portal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88524" y="2029968"/>
            <a:ext cx="1644396" cy="896112"/>
          </a:xfrm>
          <a:prstGeom prst="roundRect">
            <a:avLst/>
          </a:prstGeom>
          <a:solidFill>
            <a:srgbClr val="E6F1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06812" y="2066544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185FA5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Vào Pool · phân bổ seat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185FA5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Theo phòng ban / org tree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2926080"/>
            <a:ext cx="1325880" cy="896112"/>
          </a:xfrm>
          <a:prstGeom prst="round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" y="3017520"/>
            <a:ext cx="1216152" cy="45720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zVAS CMS</a:t>
            </a:r>
          </a:p>
          <a:p>
            <a:pPr algn="l">
              <a:lnSpc>
                <a:spcPct val="103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Calibri"/>
              </a:rPr>
              <a:t>System · auto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792224" y="2926080"/>
            <a:ext cx="1644396" cy="896112"/>
          </a:xfrm>
          <a:prstGeom prst="roundRect">
            <a:avLst/>
          </a:prstGeom>
          <a:solidFill>
            <a:srgbClr val="EEEDF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10512" y="2962656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534AB7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Render catalog theo phân quyền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534AB7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Pricing rules &amp; feature matrix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91484" y="2926080"/>
            <a:ext cx="1644396" cy="896112"/>
          </a:xfrm>
          <a:prstGeom prst="roundRect">
            <a:avLst/>
          </a:prstGeom>
          <a:solidFill>
            <a:srgbClr val="EEEDF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09772" y="2962656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534AB7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Validate seat (min/max)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534AB7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Cảnh báo code hạn 6/3/2/1 thg · tạo order (draft)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90744" y="2926080"/>
            <a:ext cx="1644396" cy="896112"/>
          </a:xfrm>
          <a:prstGeom prst="roundRect">
            <a:avLst/>
          </a:prstGeom>
          <a:solidFill>
            <a:srgbClr val="EEEDF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09032" y="2962656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534AB7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Tính prorate · VAT 10%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534AB7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Generate quote PDF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90004" y="2926080"/>
            <a:ext cx="1644396" cy="896112"/>
          </a:xfrm>
          <a:prstGeom prst="roundRect">
            <a:avLst/>
          </a:prstGeom>
          <a:solidFill>
            <a:srgbClr val="EEEDF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08292" y="2962656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534AB7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Xuất invoice PDF (VAT·MST)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534AB7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Set pending_payment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89264" y="2926080"/>
            <a:ext cx="1644396" cy="896112"/>
          </a:xfrm>
          <a:prstGeom prst="roundRect">
            <a:avLst/>
          </a:prstGeom>
          <a:solidFill>
            <a:srgbClr val="EEEDF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07552" y="2962656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534AB7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Tạo subscription · set dates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534AB7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Auto-select code sắp hết hạn · draft→active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288524" y="2926080"/>
            <a:ext cx="1644396" cy="896112"/>
          </a:xfrm>
          <a:prstGeom prst="roundRect">
            <a:avLst/>
          </a:prstGeom>
          <a:solidFill>
            <a:srgbClr val="EEEDF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06812" y="2962656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534AB7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Cộng seat vào Pool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534AB7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available=purchased−allocated · log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1480" y="3822191"/>
            <a:ext cx="1325880" cy="896112"/>
          </a:xfrm>
          <a:prstGeom prst="round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6344" y="3913631"/>
            <a:ext cx="1216152" cy="45720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GAPIT Sales/Admin</a:t>
            </a:r>
          </a:p>
          <a:p>
            <a:pPr algn="l">
              <a:lnSpc>
                <a:spcPct val="103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Calibri"/>
              </a:rPr>
              <a:t>Internal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792224" y="3822191"/>
            <a:ext cx="1644396" cy="896112"/>
          </a:xfrm>
          <a:prstGeom prst="roundRect">
            <a:avLst/>
          </a:prstGeom>
          <a:solidFill>
            <a:srgbClr val="E1F5E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810512" y="3858768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0F6E56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Demo catalog cho KH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0F6E56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Khởi tạo order hộ (sales-assist)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91484" y="3822191"/>
            <a:ext cx="1644396" cy="896112"/>
          </a:xfrm>
          <a:prstGeom prst="roundRect">
            <a:avLst/>
          </a:prstGeom>
          <a:solidFill>
            <a:srgbClr val="E1F5E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09772" y="3858768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0F6E56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Cấu hình custom bundle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0F6E56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Enterprise pricing · note nội bộ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190744" y="3822191"/>
            <a:ext cx="1644396" cy="896112"/>
          </a:xfrm>
          <a:prstGeom prst="roundRect">
            <a:avLst/>
          </a:prstGeom>
          <a:solidFill>
            <a:srgbClr val="E1F5E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09032" y="3858768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0F6E56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Approve quote custom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0F6E56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Gửi KH qua email / Zalo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890004" y="3822191"/>
            <a:ext cx="1644396" cy="896112"/>
          </a:xfrm>
          <a:prstGeom prst="roundRect">
            <a:avLst/>
          </a:prstGeom>
          <a:solidFill>
            <a:srgbClr val="E1F5E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08292" y="3858768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0F6E56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⚠ Verify thanh toán thủ công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0F6E56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Mark paid → CMS kích hoạt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89264" y="3822191"/>
            <a:ext cx="1644396" cy="896112"/>
          </a:xfrm>
          <a:prstGeom prst="roundRect">
            <a:avLst/>
          </a:prstGeom>
          <a:solidFill>
            <a:srgbClr val="E1F5E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07552" y="3858768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0F6E56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Cập nhật KPI pipeline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0F6E56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Ghi nhận MRR mới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288524" y="3822191"/>
            <a:ext cx="1644396" cy="896112"/>
          </a:xfrm>
          <a:prstGeom prst="roundRect">
            <a:avLst/>
          </a:prstGeom>
          <a:solidFill>
            <a:srgbClr val="E1F5E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306812" y="3858768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0F6E56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Theo dõi tồn kho code pool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0F6E56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Chuẩn bị activation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11480" y="4718304"/>
            <a:ext cx="1325880" cy="896112"/>
          </a:xfrm>
          <a:prstGeom prst="round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6344" y="4809744"/>
            <a:ext cx="1216152" cy="45720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Payment / Ngoài</a:t>
            </a:r>
          </a:p>
          <a:p>
            <a:pPr algn="l">
              <a:lnSpc>
                <a:spcPct val="103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Calibri"/>
              </a:rPr>
              <a:t>ZaloPay·Bank·VNPT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792224" y="4718304"/>
            <a:ext cx="1644396" cy="896112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92224" y="4718304"/>
            <a:ext cx="1644396" cy="896112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491484" y="4718304"/>
            <a:ext cx="1644396" cy="896112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91484" y="4718304"/>
            <a:ext cx="1644396" cy="896112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190744" y="4718304"/>
            <a:ext cx="1644396" cy="896112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190744" y="4718304"/>
            <a:ext cx="1644396" cy="896112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890004" y="4718304"/>
            <a:ext cx="1644396" cy="896112"/>
          </a:xfrm>
          <a:prstGeom prst="roundRect">
            <a:avLst/>
          </a:prstGeom>
          <a:solidFill>
            <a:srgbClr val="FAEEDA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08292" y="4754880"/>
            <a:ext cx="1598676" cy="841247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BA7517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ZaloPay/Bank xử lý · transaction ID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BA7517"/>
                </a:solidFill>
                <a:latin typeface="Calibri"/>
              </a:rPr>
              <a:t>▪ </a:t>
            </a:r>
            <a:r>
              <a:rPr sz="730">
                <a:solidFill>
                  <a:srgbClr val="4A5568"/>
                </a:solidFill>
                <a:latin typeface="Calibri"/>
              </a:rPr>
              <a:t>e-Contract bởi VNPT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589264" y="4718304"/>
            <a:ext cx="1644396" cy="896112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89264" y="4718304"/>
            <a:ext cx="1644396" cy="896112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288524" y="4718304"/>
            <a:ext cx="1644396" cy="896112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288524" y="4718304"/>
            <a:ext cx="1644396" cy="896112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80" y="5669280"/>
            <a:ext cx="1325880" cy="27432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8096"/>
                </a:solidFill>
                <a:latin typeface="Calibri"/>
              </a:rPr>
              <a:t>Trạng thái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792224" y="5669280"/>
            <a:ext cx="1644396" cy="274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792224" y="5669280"/>
            <a:ext cx="1644396" cy="27432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18096"/>
                </a:solidFill>
                <a:latin typeface="Calibri"/>
              </a:rPr>
              <a:t>—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491484" y="5669280"/>
            <a:ext cx="1644396" cy="27432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491484" y="5669280"/>
            <a:ext cx="1644396" cy="27432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338CA"/>
                </a:solidFill>
                <a:latin typeface="Calibri"/>
              </a:rPr>
              <a:t>draft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190744" y="5669280"/>
            <a:ext cx="1644396" cy="27432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190744" y="5669280"/>
            <a:ext cx="1644396" cy="27432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338CA"/>
                </a:solidFill>
                <a:latin typeface="Calibri"/>
              </a:rPr>
              <a:t>draft (quoted)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890004" y="5669280"/>
            <a:ext cx="1644396" cy="27432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890004" y="5669280"/>
            <a:ext cx="1644396" cy="27432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2400E"/>
                </a:solidFill>
                <a:latin typeface="Calibri"/>
              </a:rPr>
              <a:t>pending_payment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589264" y="5669280"/>
            <a:ext cx="1644396" cy="274320"/>
          </a:xfrm>
          <a:prstGeom prst="round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589264" y="5669280"/>
            <a:ext cx="1644396" cy="27432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4532D"/>
                </a:solidFill>
                <a:latin typeface="Calibri"/>
              </a:rPr>
              <a:t>active ✓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288524" y="5669280"/>
            <a:ext cx="1644396" cy="274320"/>
          </a:xfrm>
          <a:prstGeom prst="round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288524" y="5669280"/>
            <a:ext cx="1644396" cy="27432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4532D"/>
                </a:solidFill>
                <a:latin typeface="Calibri"/>
              </a:rPr>
              <a:t>active + pool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