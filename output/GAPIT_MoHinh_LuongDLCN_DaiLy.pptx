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F7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"/>
            <a:ext cx="992564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632" y="109728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68FF"/>
                </a:solidFill>
                <a:latin typeface="Arial"/>
              </a:rPr>
              <a:t>×  Zalo 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12680" y="91440"/>
            <a:ext cx="1920240" cy="365760"/>
          </a:xfrm>
          <a:prstGeom prst="roundRect">
            <a:avLst/>
          </a:prstGeom>
          <a:solidFill>
            <a:srgbClr val="F5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12680" y="91440"/>
            <a:ext cx="1920240" cy="365760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DATA FLOW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1792"/>
            <a:ext cx="11521440" cy="42062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1A40"/>
                </a:solidFill>
                <a:latin typeface="Arial"/>
              </a:rPr>
              <a:t>Mô hình luồng Dữ liệu Cá nhân: Đại lý ↔ GAPIT (dịch vụ zVAS / eSIM)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60704"/>
            <a:ext cx="11521440" cy="23774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18096"/>
                </a:solidFill>
                <a:latin typeface="Calibri"/>
              </a:rPr>
              <a:t>Các trường hợp Đại lý chuyển DLCN của người dùng cho GAPIT — phân loại Cơ bản / </a:t>
            </a:r>
            <a:r>
              <a:rPr sz="1100" b="1">
                <a:solidFill>
                  <a:srgbClr val="E2574C"/>
                </a:solidFill>
                <a:latin typeface="Calibri"/>
              </a:rPr>
              <a:t>Nhạy cảm</a:t>
            </a:r>
            <a:r>
              <a:rPr sz="1100" b="0">
                <a:solidFill>
                  <a:srgbClr val="718096"/>
                </a:solidFill>
                <a:latin typeface="Calibri"/>
              </a:rPr>
              <a:t>; </a:t>
            </a:r>
            <a:r>
              <a:rPr sz="1100" b="1">
                <a:solidFill>
                  <a:srgbClr val="E2574C"/>
                </a:solidFill>
                <a:latin typeface="Calibri"/>
              </a:rPr>
              <a:t>eKYC = dữ liệu cá nhân NHẠY CẢM</a:t>
            </a:r>
            <a:r>
              <a:rPr sz="1100" b="0">
                <a:solidFill>
                  <a:srgbClr val="718096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44752"/>
            <a:ext cx="2011680" cy="585216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Người dùng cuối / KH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73936"/>
            <a:ext cx="2011680" cy="201168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Chủ thể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298448"/>
            <a:ext cx="630936" cy="164592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4A5568"/>
                </a:solidFill>
                <a:latin typeface="Calibri"/>
              </a:rPr>
              <a:t>thu thập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444752"/>
            <a:ext cx="265176" cy="585216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4A3B8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8336" y="1444752"/>
            <a:ext cx="2011680" cy="585216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50876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ĐẠI LÝ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1773936"/>
            <a:ext cx="2011680" cy="201168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Bên Kiểm soát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1298448"/>
            <a:ext cx="630936" cy="164592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4A5568"/>
                </a:solidFill>
                <a:latin typeface="Calibri"/>
              </a:rPr>
              <a:t>chuyển DLCN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444752"/>
            <a:ext cx="265176" cy="585216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6E56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5192" y="1444752"/>
            <a:ext cx="2011680" cy="585216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150876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GAPIT  (CMS)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1773936"/>
            <a:ext cx="2011680" cy="201168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Bên Xử lý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1298448"/>
            <a:ext cx="630936" cy="164592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4A5568"/>
                </a:solidFill>
                <a:latin typeface="Calibri"/>
              </a:rPr>
              <a:t>eKYC / khai báo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1444752"/>
            <a:ext cx="265176" cy="585216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68FF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42048" y="1444752"/>
            <a:ext cx="2011680" cy="585216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150876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Zalo / VNG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1773936"/>
            <a:ext cx="2011680" cy="201168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Nhà phát hành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1298448"/>
            <a:ext cx="630936" cy="164592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4A5568"/>
                </a:solidFill>
                <a:latin typeface="Calibri"/>
              </a:rPr>
              <a:t>cung cấp theo YC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1444752"/>
            <a:ext cx="265176" cy="585216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3F88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18904" y="1444752"/>
            <a:ext cx="2011680" cy="585216"/>
          </a:xfrm>
          <a:prstGeom prst="round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8904" y="150876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Cơ quan nhà nước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18904" y="1773936"/>
            <a:ext cx="2011680" cy="201168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>Khi có yêu cầu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2212848"/>
            <a:ext cx="10972800" cy="201168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18096"/>
                </a:solidFill>
                <a:latin typeface="Calibri"/>
              </a:rPr>
              <a:t>4 LUỒNG DỮ LIỆU CỤ THỂ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2450592"/>
            <a:ext cx="27889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1480" y="2450592"/>
            <a:ext cx="2788920" cy="676656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2505456"/>
            <a:ext cx="2532887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1 · Vận hành &amp; Thống kê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" y="2834640"/>
            <a:ext cx="2532887" cy="23774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Cơ bản / khử định danh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3218688"/>
            <a:ext cx="2642615" cy="21945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0F6E56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Đại lý dùng CMS GAPIT để gắn Mã code zVAS vào SĐT người dùng, quản lý &amp; duy trì tài khoản.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0F6E56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Đại lý TỰ quản lý → </a:t>
            </a:r>
            <a:r>
              <a:rPr sz="850" b="1">
                <a:solidFill>
                  <a:srgbClr val="0F6E56"/>
                </a:solidFill>
                <a:latin typeface="Calibri"/>
              </a:rPr>
              <a:t>KHÔNG chuyển DLCN.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0F6E56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Cần dùng hệ thống GAPIT → dùng </a:t>
            </a:r>
            <a:r>
              <a:rPr sz="850" b="1">
                <a:solidFill>
                  <a:srgbClr val="0F6E56"/>
                </a:solidFill>
                <a:latin typeface="Calibri"/>
              </a:rPr>
              <a:t>Mã ID đã KHỬ ĐỊNH DANH</a:t>
            </a:r>
            <a:r>
              <a:rPr sz="850" b="0">
                <a:solidFill>
                  <a:srgbClr val="4A5568"/>
                </a:solidFill>
                <a:latin typeface="Calibri"/>
              </a:rPr>
              <a:t> (không còn là DLCN).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0F6E56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Dữ liệu: SĐT / ID khử định danh.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0128" y="2450592"/>
            <a:ext cx="27889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10128" y="2450592"/>
            <a:ext cx="2788920" cy="676656"/>
          </a:xfrm>
          <a:prstGeom prst="roundRect">
            <a:avLst/>
          </a:prstGeom>
          <a:solidFill>
            <a:srgbClr val="006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38144" y="2505456"/>
            <a:ext cx="2532887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2 · CSKH / Khiếu nại / Hỗ trợ KT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38144" y="2834640"/>
            <a:ext cx="2532887" cy="23774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Cơ bản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218688"/>
            <a:ext cx="2642615" cy="21945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0068FF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Đại lý chuyển thông tin + nội dung sự việc cho GAPIT để xử lý ở cấp hệ thống.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0068FF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Dữ liệu: SĐT, email, mã đơn/mã code, nội dung khiếu nại.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0068FF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Vai trò: GAPIT = </a:t>
            </a:r>
            <a:r>
              <a:rPr sz="850" b="1">
                <a:solidFill>
                  <a:srgbClr val="0068FF"/>
                </a:solidFill>
                <a:latin typeface="Calibri"/>
              </a:rPr>
              <a:t>Bên Xử lý</a:t>
            </a:r>
            <a:r>
              <a:rPr sz="850" b="0">
                <a:solidFill>
                  <a:srgbClr val="4A5568"/>
                </a:solidFill>
                <a:latin typeface="Calibri"/>
              </a:rPr>
              <a:t> theo chỉ dẫn của Đại lý.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08776" y="2450592"/>
            <a:ext cx="27889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57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08776" y="2450592"/>
            <a:ext cx="2788920" cy="676656"/>
          </a:xfrm>
          <a:prstGeom prst="roundRect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2505456"/>
            <a:ext cx="2532887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3 · Xác thực / eKYC   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2834640"/>
            <a:ext cx="2532887" cy="23774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DỮ LIỆU NHẠY CẢM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1928" y="3218688"/>
            <a:ext cx="2642615" cy="21945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E2574C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Khách hàng không thể tự eKYC → Đại lý thu thập &amp; chuyển </a:t>
            </a:r>
            <a:r>
              <a:rPr sz="850" b="1">
                <a:solidFill>
                  <a:srgbClr val="E2574C"/>
                </a:solidFill>
                <a:latin typeface="Calibri"/>
              </a:rPr>
              <a:t>dữ liệu định danh</a:t>
            </a:r>
            <a:r>
              <a:rPr sz="850" b="0">
                <a:solidFill>
                  <a:srgbClr val="4A5568"/>
                </a:solidFill>
                <a:latin typeface="Calibri"/>
              </a:rPr>
              <a:t> cho GAPIT → GAPIT xử lý với Zalo.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E2574C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Dữ liệu: ảnh CCCD/giấy tờ định danh (và sinh trắc nếu có) — </a:t>
            </a:r>
            <a:r>
              <a:rPr sz="850" b="1">
                <a:solidFill>
                  <a:srgbClr val="E2574C"/>
                </a:solidFill>
                <a:latin typeface="Calibri"/>
              </a:rPr>
              <a:t>NHẠY CẢM</a:t>
            </a:r>
            <a:r>
              <a:rPr sz="850" b="0">
                <a:solidFill>
                  <a:srgbClr val="4A5568"/>
                </a:solidFill>
                <a:latin typeface="Calibri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E2574C"/>
                </a:solidFill>
                <a:latin typeface="Calibri"/>
              </a:rPr>
              <a:t>▪ </a:t>
            </a:r>
            <a:r>
              <a:rPr sz="850" b="1">
                <a:solidFill>
                  <a:srgbClr val="E2574C"/>
                </a:solidFill>
                <a:latin typeface="Calibri"/>
              </a:rPr>
              <a:t>Yêu cầu: </a:t>
            </a:r>
            <a:r>
              <a:rPr sz="850" b="0">
                <a:solidFill>
                  <a:srgbClr val="4A5568"/>
                </a:solidFill>
                <a:latin typeface="Calibri"/>
              </a:rPr>
              <a:t>đồng ý riêng + mã hóa/bảo mật nghiêm ngặt + tối thiểu hóa + thông báo xử lý DLCN nhạy cảm.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07424" y="2450592"/>
            <a:ext cx="27889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1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107424" y="2450592"/>
            <a:ext cx="2788920" cy="676656"/>
          </a:xfrm>
          <a:prstGeom prst="roundRect">
            <a:avLst/>
          </a:prstGeom>
          <a:solidFill>
            <a:srgbClr val="001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2505456"/>
            <a:ext cx="2532887" cy="274320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4 · Cung cấp cho cơ quan nhà nước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2834640"/>
            <a:ext cx="2532887" cy="237744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Calibri"/>
              </a:rPr>
              <a:t>Nghĩa vụ pháp lý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0576" y="3218688"/>
            <a:ext cx="2642615" cy="21945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001A40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Khi có hành vi gian lận → GAPIT gửi lại dữ liệu cho Zalo/VNG để khai báo &amp; cung cấp cho cơ quan có thẩm quyền.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001A40"/>
                </a:solidFill>
                <a:latin typeface="Calibri"/>
              </a:rPr>
              <a:t>▪ </a:t>
            </a:r>
            <a:r>
              <a:rPr sz="850" b="0">
                <a:solidFill>
                  <a:srgbClr val="4A5568"/>
                </a:solidFill>
                <a:latin typeface="Calibri"/>
              </a:rPr>
              <a:t>Cơ sở: </a:t>
            </a:r>
            <a:r>
              <a:rPr sz="850" b="1">
                <a:solidFill>
                  <a:srgbClr val="001A40"/>
                </a:solidFill>
                <a:latin typeface="Calibri"/>
              </a:rPr>
              <a:t>nghĩa vụ pháp lý / yêu cầu của cơ quan có thẩm quyền</a:t>
            </a:r>
            <a:r>
              <a:rPr sz="850" b="0">
                <a:solidFill>
                  <a:srgbClr val="4A5568"/>
                </a:solidFill>
                <a:latin typeface="Calibri"/>
              </a:rPr>
              <a:t> (không cần đồng ý bổ sung).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5596128"/>
            <a:ext cx="11384280" cy="749808"/>
          </a:xfrm>
          <a:prstGeom prst="roundRect">
            <a:avLst/>
          </a:prstGeom>
          <a:solidFill>
            <a:srgbClr val="FDEEEC"/>
          </a:solidFill>
          <a:ln w="15875">
            <a:solidFill>
              <a:srgbClr val="E257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5632704"/>
            <a:ext cx="11109960" cy="676656"/>
          </a:xfrm>
          <a:prstGeom prst="rect">
            <a:avLst/>
          </a:prstGeom>
          <a:noFill/>
        </p:spPr>
        <p:txBody>
          <a:bodyPr wrap="square" anchor="t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1A40"/>
                </a:solidFill>
                <a:latin typeface="Calibri"/>
              </a:rPr>
              <a:t>Phân loại &amp; vai trò: </a:t>
            </a:r>
            <a:r>
              <a:rPr sz="900" b="0">
                <a:solidFill>
                  <a:srgbClr val="4A5568"/>
                </a:solidFill>
                <a:latin typeface="Calibri"/>
              </a:rPr>
              <a:t>Đại lý = Bên Kiểm soát (thu thập, quan hệ trực tiếp với người dùng) · GAPIT = Bên Xử lý (xử lý cấp hệ thống theo chỉ dẫn).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E2574C"/>
                </a:solidFill>
                <a:latin typeface="Calibri"/>
              </a:rPr>
              <a:t>⚠ Riêng eKYC là DỮ LIỆU NHẠY CẢM</a:t>
            </a:r>
            <a:r>
              <a:rPr sz="900" b="0">
                <a:solidFill>
                  <a:srgbClr val="4A5568"/>
                </a:solidFill>
                <a:latin typeface="Calibri"/>
              </a:rPr>
              <a:t> → áp dụng sự đồng ý RIÊNG + biện pháp bảo mật nghiêm ngặt + thông báo xử lý dữ liệu nhạy cảm theo Luật BVDLCN 91/2025 &amp; NĐ 356/2025. Nguyên tắc khử định danh/tối thiểu hóa cho luồng vận hành.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6583680"/>
            <a:ext cx="11384280" cy="201168"/>
          </a:xfrm>
          <a:prstGeom prst="roundRect">
            <a:avLst/>
          </a:prstGeom>
          <a:solidFill>
            <a:srgbClr val="003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6583680"/>
            <a:ext cx="11064240" cy="201168"/>
          </a:xfrm>
          <a:prstGeom prst="rect">
            <a:avLst/>
          </a:prstGeom>
          <a:noFill/>
        </p:spPr>
        <p:txBody>
          <a:bodyPr wrap="square" anchor="ctr" lIns="45720" rIns="45720" tIns="18288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GAPIT JSC  |  gapit.com.vn</a:t>
            </a:r>
            <a:r>
              <a:rPr sz="800" b="0">
                <a:solidFill>
                  <a:srgbClr val="FFFFFF"/>
                </a:solidFill>
                <a:latin typeface="Calibri"/>
              </a:rPr>
              <a:t>     —  Mô hình luồng DLCN Đại lý ↔ GAPIT (phục vụ DPA &amp; rà soát Pháp chế)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