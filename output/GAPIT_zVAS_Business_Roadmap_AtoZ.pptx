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992564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109728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8FF"/>
                </a:solidFill>
                <a:latin typeface="Arial"/>
              </a:rPr>
              <a:t>×  Zalo 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91440"/>
            <a:ext cx="1920240" cy="365760"/>
          </a:xfrm>
          <a:prstGeom prst="round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91440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BUSINESS ROADMAP A–Z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8686800" cy="420624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1A40"/>
                </a:solidFill>
                <a:latin typeface="Arial"/>
              </a:rPr>
              <a:t>zVAS — Business Roadmap A →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521440" cy="219456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8096"/>
                </a:solidFill>
                <a:latin typeface="Calibri"/>
              </a:rPr>
              <a:t>Roadmap theo outcome &amp; horizon (Now · Next · Later) · Kinh tế biên lợi nhuận · Order Flow trên zVAS CMS</a:t>
            </a:r>
          </a:p>
          <a:p>
            <a:pPr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Calibri"/>
              </a:rPr>
              <a:t>Khung tham khảo: Adrenalin — “Roadmapping Your Digital Product” (outcome-driven, theme-based, không cố định ngày).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10972800" cy="201168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96"/>
                </a:solidFill>
                <a:latin typeface="Calibri"/>
              </a:rPr>
              <a:t>1 · ROADMAP SẢN PHẨM — NOW / NEXT / LATER  (theo kết quả/outcome)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19072"/>
            <a:ext cx="3703320" cy="566928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755648"/>
            <a:ext cx="3429000" cy="27432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NOW</a:t>
            </a:r>
            <a:r>
              <a:rPr sz="1300" b="0">
                <a:solidFill>
                  <a:srgbClr val="FFFFFF"/>
                </a:solidFill>
                <a:latin typeface="Calibri"/>
              </a:rPr>
              <a:t>   Q2–Q3 /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029968"/>
            <a:ext cx="3429000" cy="219456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Go-live &amp; 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22576"/>
            <a:ext cx="370332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483863" cy="36576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68FF"/>
                </a:solidFill>
                <a:latin typeface="Calibri"/>
              </a:rPr>
              <a:t>Outcome: vận hành B2B ổn định · dòng tiền trả trước · khởi động mạng đại lý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3520439" cy="153619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068FF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Hoàn thiện zVAS CMS: catalog, báo giá (prorate + VAT), hóa đơn, kích hoạt, code pool &amp; cảnh báo hạn 6/3/2/1 tháng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068FF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Go-live KHDN + ký HĐ Đại lý cấp II; DPA theo PDPA(VNI)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068FF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Chuẩn hóa cơ chế trả trước + bảng giá &amp; chiết khấu theo bậc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068FF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Đào tạo CSKH cấp 1; quy trình đổi Mã code lỗi (≤ 24h)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1719072"/>
            <a:ext cx="3703320" cy="566928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755648"/>
            <a:ext cx="3429000" cy="27432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NEXT</a:t>
            </a:r>
            <a:r>
              <a:rPr sz="1300" b="0">
                <a:solidFill>
                  <a:srgbClr val="FFFFFF"/>
                </a:solidFill>
                <a:latin typeface="Calibri"/>
              </a:rPr>
              <a:t>   Q4/2026 – Q1/2027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29968"/>
            <a:ext cx="3429000" cy="219456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Scale &amp; Enable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322576"/>
            <a:ext cx="370332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2377440"/>
            <a:ext cx="3483863" cy="36576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F6E56"/>
                </a:solidFill>
                <a:latin typeface="Calibri"/>
              </a:rPr>
              <a:t>Outcome: nhân rộng kênh đại lý · tăng MRR · giảm thao tác thủ công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743200"/>
            <a:ext cx="3520439" cy="153619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F6E56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Mở rộng Đại lý cấp II: RACI, onboarding, KPI doanh số tối thiểu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F6E56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Portal Đại lý/Affiliate; báo cáo MRR &amp; tồn kho Mã code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F6E56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Tự động đối soát CSV zbox.vn; auto-select code sắp hết hạn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0F6E56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Thêm bundle (zBusiness+zCloud+zStyle); khuyến mại có kiểm soát giá sàn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1719072"/>
            <a:ext cx="3703320" cy="566928"/>
          </a:xfrm>
          <a:prstGeom prst="round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755648"/>
            <a:ext cx="3429000" cy="27432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LATER</a:t>
            </a:r>
            <a:r>
              <a:rPr sz="1300" b="0">
                <a:solidFill>
                  <a:srgbClr val="FFFFFF"/>
                </a:solidFill>
                <a:latin typeface="Calibri"/>
              </a:rPr>
              <a:t>   2027+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029968"/>
            <a:ext cx="3429000" cy="219456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Optimize &amp; Expand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2322576"/>
            <a:ext cx="370332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2377440"/>
            <a:ext cx="3483863" cy="36576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534AB7"/>
                </a:solidFill>
                <a:latin typeface="Calibri"/>
              </a:rPr>
              <a:t>Outcome: tối ưu biên lợi nhuận · mở rộng hệ sinh thái · tích hợp sâu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743200"/>
            <a:ext cx="3520439" cy="153619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534AB7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API hóa khi VNG mở API → bỏ thao tác CSV thủ công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534AB7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Cross-sell eSIM / SIM doanh nghiệp; combo đa dịch vụ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534AB7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Analytics hành vi &amp; dự báo nhu cầu; tối ưu pricing theo bậc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>
                <a:solidFill>
                  <a:srgbClr val="534AB7"/>
                </a:solidFill>
                <a:latin typeface="Calibri"/>
              </a:rPr>
              <a:t>▪ </a:t>
            </a:r>
            <a:r>
              <a:rPr sz="919">
                <a:solidFill>
                  <a:srgbClr val="4A5568"/>
                </a:solidFill>
                <a:latin typeface="Calibri"/>
              </a:rPr>
              <a:t>Loyalty cho Đại lý &amp; KHDN; mở rộng vùng/ngành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498848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96"/>
                </a:solidFill>
                <a:latin typeface="Calibri"/>
              </a:rPr>
              <a:t>2 · BIÊN LỢI NHUẬN — GAPIT &amp; ĐẠI LÝ CẤP II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736592"/>
            <a:ext cx="1417320" cy="29260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36592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Bậc SL (code/tháng)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736592"/>
            <a:ext cx="1325880" cy="29260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4736592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CK Đại lý cấp 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736592"/>
            <a:ext cx="1234440" cy="29260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4736592"/>
            <a:ext cx="123444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Biên Đại lý II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736592"/>
            <a:ext cx="1417320" cy="29260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736592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Biên GAPIT giữ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4736592"/>
            <a:ext cx="960120" cy="29260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4736592"/>
            <a:ext cx="9601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Tổng biên kênh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029200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29200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1A40"/>
                </a:solidFill>
                <a:latin typeface="Calibri"/>
              </a:rPr>
              <a:t>50 – 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5029200"/>
            <a:ext cx="1325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0" y="5029200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5029200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54680" y="5029200"/>
            <a:ext cx="123444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5029200"/>
            <a:ext cx="1417320" cy="292608"/>
          </a:xfrm>
          <a:prstGeom prst="rect">
            <a:avLst/>
          </a:prstGeom>
          <a:solidFill>
            <a:srgbClr val="FFF1E6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5029200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862C"/>
                </a:solidFill>
                <a:latin typeface="Calibri"/>
              </a:rPr>
              <a:t>15%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502920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5029200"/>
            <a:ext cx="9601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20%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321807"/>
            <a:ext cx="1417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321807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1A40"/>
                </a:solidFill>
                <a:latin typeface="Calibri"/>
              </a:rPr>
              <a:t>100 – 299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5321807"/>
            <a:ext cx="132588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0" y="5321807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5321807"/>
            <a:ext cx="123444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54680" y="5321807"/>
            <a:ext cx="123444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0" y="5321807"/>
            <a:ext cx="1417320" cy="292608"/>
          </a:xfrm>
          <a:prstGeom prst="rect">
            <a:avLst/>
          </a:prstGeom>
          <a:solidFill>
            <a:srgbClr val="FFF1E6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0" y="5321807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862C"/>
                </a:solidFill>
                <a:latin typeface="Calibri"/>
              </a:rPr>
              <a:t>12%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06440" y="5321807"/>
            <a:ext cx="9601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440" y="5321807"/>
            <a:ext cx="9601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20%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614416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614416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1A40"/>
                </a:solidFill>
                <a:latin typeface="Calibri"/>
              </a:rPr>
              <a:t>≥ 300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0" y="5614416"/>
            <a:ext cx="1325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0" y="561441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10%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5614416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54680" y="5614416"/>
            <a:ext cx="123444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10%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5614416"/>
            <a:ext cx="1417320" cy="292608"/>
          </a:xfrm>
          <a:prstGeom prst="rect">
            <a:avLst/>
          </a:prstGeom>
          <a:solidFill>
            <a:srgbClr val="FFF1E6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5614416"/>
            <a:ext cx="14173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862C"/>
                </a:solidFill>
                <a:latin typeface="Calibri"/>
              </a:rPr>
              <a:t>10%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06440" y="561441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5614416"/>
            <a:ext cx="9601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20%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5760720"/>
            <a:ext cx="5760720" cy="82296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01A40"/>
                </a:solidFill>
                <a:latin typeface="Calibri"/>
              </a:rPr>
              <a:t>Ví dụ zBusiness 12 tháng — Zalo retail 1.990.000đ · VNG→GAPIT 1.592.000đ (−20%):</a:t>
            </a:r>
          </a:p>
          <a:p>
            <a:pPr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</a:pPr>
            <a:r>
              <a:rPr sz="840" b="0">
                <a:solidFill>
                  <a:srgbClr val="4A5568"/>
                </a:solidFill>
                <a:latin typeface="Calibri"/>
              </a:rPr>
              <a:t>• Bậc ≥300 (CK 10%): ĐL mua 1.791.000đ → </a:t>
            </a:r>
            <a:r>
              <a:rPr sz="840" b="1">
                <a:solidFill>
                  <a:srgbClr val="F5862C"/>
                </a:solidFill>
                <a:latin typeface="Calibri"/>
              </a:rPr>
              <a:t>Biên GAPIT 199.000đ (10%)</a:t>
            </a:r>
            <a:r>
              <a:rPr sz="840" b="1">
                <a:solidFill>
                  <a:srgbClr val="22C55E"/>
                </a:solidFill>
                <a:latin typeface="Calibri"/>
              </a:rPr>
              <a:t> · Biên ĐL 199.000đ (10%)</a:t>
            </a:r>
          </a:p>
          <a:p>
            <a:pPr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</a:pPr>
            <a:r>
              <a:rPr sz="840" b="0">
                <a:solidFill>
                  <a:srgbClr val="4A5568"/>
                </a:solidFill>
                <a:latin typeface="Calibri"/>
              </a:rPr>
              <a:t>• Bậc 50–99 (CK 5%): ĐL mua 1.890.500đ → </a:t>
            </a:r>
            <a:r>
              <a:rPr sz="840" b="1">
                <a:solidFill>
                  <a:srgbClr val="F5862C"/>
                </a:solidFill>
                <a:latin typeface="Calibri"/>
              </a:rPr>
              <a:t>Biên GAPIT 298.500đ (15%)</a:t>
            </a:r>
            <a:r>
              <a:rPr sz="840" b="1">
                <a:solidFill>
                  <a:srgbClr val="22C55E"/>
                </a:solidFill>
                <a:latin typeface="Calibri"/>
              </a:rPr>
              <a:t> · Biên ĐL 99.500đ (5%)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760" b="0">
                <a:solidFill>
                  <a:srgbClr val="718096"/>
                </a:solidFill>
                <a:latin typeface="Calibri"/>
              </a:rPr>
              <a:t>Tổng biên kênh ≈20% = chênh giá bán lẻ Zalo vs giá VNG (theo zBusiness 12T; gói khác theo Phụ lục). GAPIT giữ = 20% − CK cấp cho ĐL. Mã code đã mua: không hoàn/đổi (chính sách VNG).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4498848"/>
            <a:ext cx="5669280" cy="201168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96"/>
                </a:solidFill>
                <a:latin typeface="Calibri"/>
              </a:rPr>
              <a:t>3 · ORDER FLOW — zVAS CMS (6 bước · không GapOne)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55080" y="4754880"/>
            <a:ext cx="176479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355080" y="4754880"/>
            <a:ext cx="310896" cy="566928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754880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02552" y="4754880"/>
            <a:ext cx="1380744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1A40"/>
                </a:solidFill>
                <a:latin typeface="Calibri"/>
              </a:rPr>
              <a:t>View Catalog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19872" y="4754880"/>
            <a:ext cx="822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5FA5"/>
                </a:solidFill>
                <a:latin typeface="Arial"/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3879" y="4754880"/>
            <a:ext cx="176479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183879" y="4754880"/>
            <a:ext cx="310896" cy="566928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79" y="4754880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31352" y="4754880"/>
            <a:ext cx="1380744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1A40"/>
                </a:solidFill>
                <a:latin typeface="Calibri"/>
              </a:rPr>
              <a:t>Chọn Bundle / Seats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48672" y="4754880"/>
            <a:ext cx="822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5FA5"/>
                </a:solidFill>
                <a:latin typeface="Arial"/>
              </a:rP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12680" y="4754880"/>
            <a:ext cx="176479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012680" y="4754880"/>
            <a:ext cx="310896" cy="566928"/>
          </a:xfrm>
          <a:prstGeom prst="round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12680" y="4754880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60152" y="4754880"/>
            <a:ext cx="1380744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1A40"/>
                </a:solidFill>
                <a:latin typeface="Calibri"/>
              </a:rPr>
              <a:t>Báo giá (Prorate + VAT 10%)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355080" y="5596128"/>
            <a:ext cx="176479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355080" y="5596128"/>
            <a:ext cx="310896" cy="566928"/>
          </a:xfrm>
          <a:prstGeom prst="round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80" y="55961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02552" y="5596128"/>
            <a:ext cx="1380744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1A40"/>
                </a:solidFill>
                <a:latin typeface="Calibri"/>
              </a:rPr>
              <a:t>Thanh toán + Hóa đơn  ⚠ verify thủ công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19872" y="5596128"/>
            <a:ext cx="822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A7517"/>
                </a:solidFill>
                <a:latin typeface="Arial"/>
              </a:rPr>
              <a:t>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83879" y="5596128"/>
            <a:ext cx="176479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183879" y="5596128"/>
            <a:ext cx="310896" cy="56692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83879" y="55961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31352" y="5596128"/>
            <a:ext cx="1380744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1A40"/>
                </a:solidFill>
                <a:latin typeface="Calibri"/>
              </a:rPr>
              <a:t>Subscription Active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48672" y="5596128"/>
            <a:ext cx="822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12680" y="5596128"/>
            <a:ext cx="1764792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012680" y="5596128"/>
            <a:ext cx="310896" cy="56692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012680" y="55961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60152" y="5596128"/>
            <a:ext cx="1380744" cy="56692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1A40"/>
                </a:solidFill>
                <a:latin typeface="Calibri"/>
              </a:rPr>
              <a:t>Pool &amp; Phân bổ seats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12680" y="5321808"/>
            <a:ext cx="1764792" cy="27432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34AB7"/>
                </a:solidFill>
                <a:latin typeface="Arial"/>
              </a:rPr>
              <a:t>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55080" y="5852160"/>
            <a:ext cx="5669280" cy="182880"/>
          </a:xfrm>
          <a:prstGeom prst="rect">
            <a:avLst/>
          </a:prstGeom>
          <a:noFill/>
        </p:spPr>
        <p:txBody>
          <a:bodyPr wrap="square" anchor="t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718096"/>
                </a:solidFill>
                <a:latin typeface="Calibri"/>
              </a:rPr>
              <a:t>Trạng thái: </a:t>
            </a:r>
            <a:r>
              <a:rPr sz="819" b="0">
                <a:solidFill>
                  <a:srgbClr val="4338CA"/>
                </a:solidFill>
                <a:latin typeface="Calibri"/>
              </a:rPr>
              <a:t>— → draft → draft(quoted) → </a:t>
            </a:r>
            <a:r>
              <a:rPr sz="819" b="1">
                <a:solidFill>
                  <a:srgbClr val="BA7517"/>
                </a:solidFill>
                <a:latin typeface="Calibri"/>
              </a:rPr>
              <a:t>pending_payment</a:t>
            </a:r>
            <a:r>
              <a:rPr sz="819" b="0">
                <a:solidFill>
                  <a:srgbClr val="718096"/>
                </a:solidFill>
                <a:latin typeface="Calibri"/>
              </a:rPr>
              <a:t> → </a:t>
            </a:r>
            <a:r>
              <a:rPr sz="819" b="1">
                <a:solidFill>
                  <a:srgbClr val="14532D"/>
                </a:solidFill>
                <a:latin typeface="Calibri"/>
              </a:rPr>
              <a:t>active ✓ → active + pool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55080" y="6099048"/>
            <a:ext cx="109728" cy="109728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01384" y="6053328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A5568"/>
                </a:solidFill>
                <a:latin typeface="Calibri"/>
              </a:rPr>
              <a:t>Client (Owner/Admin)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89720" y="6099048"/>
            <a:ext cx="109728" cy="109728"/>
          </a:xfrm>
          <a:prstGeom prst="round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36024" y="6053328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A5568"/>
                </a:solidFill>
                <a:latin typeface="Calibri"/>
              </a:rPr>
              <a:t>zVAS CMS — tự động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55080" y="6318504"/>
            <a:ext cx="109728" cy="109728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01384" y="6272784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A5568"/>
                </a:solidFill>
                <a:latin typeface="Calibri"/>
              </a:rPr>
              <a:t>GAPIT Sales/Admin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189720" y="6318504"/>
            <a:ext cx="109728" cy="109728"/>
          </a:xfrm>
          <a:prstGeom prst="round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336024" y="6272784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4A5568"/>
                </a:solidFill>
                <a:latin typeface="Calibri"/>
              </a:rPr>
              <a:t>Payment: ZaloPay/Bank · VNPT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1480" y="6583680"/>
            <a:ext cx="11384280" cy="201168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" y="6583680"/>
            <a:ext cx="11064240" cy="20116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GAPIT JSC  |  gapit.com.vn</a:t>
            </a:r>
            <a:r>
              <a:rPr sz="800" b="0">
                <a:solidFill>
                  <a:srgbClr val="FFFFFF"/>
                </a:solidFill>
                <a:latin typeface="Calibri"/>
              </a:rPr>
              <a:t>     —  Business Roadmap sản phẩm zVAS (Roadmap · Biên lợi nhuận · Order Flow)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